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83"/>
  </p:notesMasterIdLst>
  <p:sldIdLst>
    <p:sldId id="256" r:id="rId2"/>
    <p:sldId id="395" r:id="rId3"/>
    <p:sldId id="364" r:id="rId4"/>
    <p:sldId id="437" r:id="rId5"/>
    <p:sldId id="438" r:id="rId6"/>
    <p:sldId id="441" r:id="rId7"/>
    <p:sldId id="442" r:id="rId8"/>
    <p:sldId id="444" r:id="rId9"/>
    <p:sldId id="445" r:id="rId10"/>
    <p:sldId id="439" r:id="rId11"/>
    <p:sldId id="367" r:id="rId12"/>
    <p:sldId id="483" r:id="rId13"/>
    <p:sldId id="360" r:id="rId14"/>
    <p:sldId id="495" r:id="rId15"/>
    <p:sldId id="298" r:id="rId16"/>
    <p:sldId id="259" r:id="rId17"/>
    <p:sldId id="398" r:id="rId18"/>
    <p:sldId id="399" r:id="rId19"/>
    <p:sldId id="400" r:id="rId20"/>
    <p:sldId id="401" r:id="rId21"/>
    <p:sldId id="402" r:id="rId22"/>
    <p:sldId id="407" r:id="rId23"/>
    <p:sldId id="408" r:id="rId24"/>
    <p:sldId id="409" r:id="rId25"/>
    <p:sldId id="410" r:id="rId26"/>
    <p:sldId id="484" r:id="rId27"/>
    <p:sldId id="412" r:id="rId28"/>
    <p:sldId id="261" r:id="rId29"/>
    <p:sldId id="435" r:id="rId30"/>
    <p:sldId id="496" r:id="rId31"/>
    <p:sldId id="436" r:id="rId32"/>
    <p:sldId id="420" r:id="rId33"/>
    <p:sldId id="423" r:id="rId34"/>
    <p:sldId id="485" r:id="rId35"/>
    <p:sldId id="472" r:id="rId36"/>
    <p:sldId id="473" r:id="rId37"/>
    <p:sldId id="474" r:id="rId38"/>
    <p:sldId id="475" r:id="rId39"/>
    <p:sldId id="476" r:id="rId40"/>
    <p:sldId id="477" r:id="rId41"/>
    <p:sldId id="478" r:id="rId42"/>
    <p:sldId id="479" r:id="rId43"/>
    <p:sldId id="480" r:id="rId44"/>
    <p:sldId id="481" r:id="rId45"/>
    <p:sldId id="482" r:id="rId46"/>
    <p:sldId id="497" r:id="rId47"/>
    <p:sldId id="431" r:id="rId48"/>
    <p:sldId id="432" r:id="rId49"/>
    <p:sldId id="433" r:id="rId50"/>
    <p:sldId id="494" r:id="rId51"/>
    <p:sldId id="380" r:id="rId52"/>
    <p:sldId id="383" r:id="rId53"/>
    <p:sldId id="384" r:id="rId54"/>
    <p:sldId id="329" r:id="rId55"/>
    <p:sldId id="341" r:id="rId56"/>
    <p:sldId id="342" r:id="rId57"/>
    <p:sldId id="343" r:id="rId58"/>
    <p:sldId id="344" r:id="rId59"/>
    <p:sldId id="345" r:id="rId60"/>
    <p:sldId id="346" r:id="rId61"/>
    <p:sldId id="340" r:id="rId62"/>
    <p:sldId id="448" r:id="rId63"/>
    <p:sldId id="449" r:id="rId64"/>
    <p:sldId id="450" r:id="rId65"/>
    <p:sldId id="451" r:id="rId66"/>
    <p:sldId id="486" r:id="rId67"/>
    <p:sldId id="487" r:id="rId68"/>
    <p:sldId id="488" r:id="rId69"/>
    <p:sldId id="452" r:id="rId70"/>
    <p:sldId id="453" r:id="rId71"/>
    <p:sldId id="489" r:id="rId72"/>
    <p:sldId id="490" r:id="rId73"/>
    <p:sldId id="491" r:id="rId74"/>
    <p:sldId id="492" r:id="rId75"/>
    <p:sldId id="493" r:id="rId76"/>
    <p:sldId id="457" r:id="rId77"/>
    <p:sldId id="458" r:id="rId78"/>
    <p:sldId id="459" r:id="rId79"/>
    <p:sldId id="460" r:id="rId80"/>
    <p:sldId id="470" r:id="rId81"/>
    <p:sldId id="434" r:id="rId8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80" d="100"/>
          <a:sy n="80" d="100"/>
        </p:scale>
        <p:origin x="1450" y="4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84"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CF80360-23B7-4CFE-97A6-C6D618D0289F}" type="datetimeFigureOut">
              <a:rPr lang="en-US" smtClean="0"/>
              <a:t>12/31/2025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210E489-8D0C-4328-8AE3-4AE35E558239}" type="slidenum">
              <a:rPr lang="en-US" smtClean="0"/>
              <a:t>‹#›</a:t>
            </a:fld>
            <a:endParaRPr lang="en-US"/>
          </a:p>
        </p:txBody>
      </p:sp>
    </p:spTree>
    <p:extLst>
      <p:ext uri="{BB962C8B-B14F-4D97-AF65-F5344CB8AC3E}">
        <p14:creationId xmlns:p14="http://schemas.microsoft.com/office/powerpoint/2010/main" val="39018374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210E489-8D0C-4328-8AE3-4AE35E558239}" type="slidenum">
              <a:rPr lang="en-US" smtClean="0"/>
              <a:t>25</a:t>
            </a:fld>
            <a:endParaRPr lang="en-US"/>
          </a:p>
        </p:txBody>
      </p:sp>
    </p:spTree>
    <p:extLst>
      <p:ext uri="{BB962C8B-B14F-4D97-AF65-F5344CB8AC3E}">
        <p14:creationId xmlns:p14="http://schemas.microsoft.com/office/powerpoint/2010/main" val="227463148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8466" y="-8468"/>
            <a:ext cx="9169804" cy="6874935"/>
            <a:chOff x="-8466" y="-8468"/>
            <a:chExt cx="9169804" cy="6874935"/>
          </a:xfrm>
        </p:grpSpPr>
        <p:cxnSp>
          <p:nvCxnSpPr>
            <p:cNvPr id="17" name="Straight Connector 16"/>
            <p:cNvCxnSpPr/>
            <p:nvPr/>
          </p:nvCxnSpPr>
          <p:spPr>
            <a:xfrm flipV="1">
              <a:off x="5130830" y="4175605"/>
              <a:ext cx="4022475" cy="2682396"/>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042707"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19" name="Freeform 18"/>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0" name="Freeform 19"/>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1" name="Freeform 20"/>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21"/>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Freeform 22"/>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Freeform 23"/>
            <p:cNvSpPr/>
            <p:nvPr/>
          </p:nvSpPr>
          <p:spPr>
            <a:xfrm>
              <a:off x="8077231"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Freeform 24"/>
            <p:cNvSpPr/>
            <p:nvPr/>
          </p:nvSpPr>
          <p:spPr>
            <a:xfrm>
              <a:off x="8060297"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Freeform 27"/>
            <p:cNvSpPr/>
            <p:nvPr/>
          </p:nvSpPr>
          <p:spPr>
            <a:xfrm>
              <a:off x="-8466" y="-8468"/>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130595" y="2404534"/>
            <a:ext cx="5826719" cy="1646302"/>
          </a:xfrm>
        </p:spPr>
        <p:txBody>
          <a:bodyPr anchor="b">
            <a:noAutofit/>
          </a:bodyPr>
          <a:lstStyle>
            <a:lvl1pPr algn="r">
              <a:defRPr sz="5400">
                <a:solidFill>
                  <a:schemeClr val="accent1"/>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130595" y="4050834"/>
            <a:ext cx="5826719"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77D1692B-E401-4ECE-9DC0-5912A708282F}" type="datetimeFigureOut">
              <a:rPr lang="en-US" smtClean="0"/>
              <a:t>12/31/2025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BB5F34-83EB-4C9E-9DDC-65A15E0D2464}" type="slidenum">
              <a:rPr lang="en-US" smtClean="0"/>
              <a:t>‹#›</a:t>
            </a:fld>
            <a:endParaRPr lang="en-US"/>
          </a:p>
        </p:txBody>
      </p:sp>
    </p:spTree>
    <p:extLst>
      <p:ext uri="{BB962C8B-B14F-4D97-AF65-F5344CB8AC3E}">
        <p14:creationId xmlns:p14="http://schemas.microsoft.com/office/powerpoint/2010/main" val="6421569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77D1692B-E401-4ECE-9DC0-5912A708282F}" type="datetimeFigureOut">
              <a:rPr lang="en-US" smtClean="0"/>
              <a:t>12/31/2025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BB5F34-83EB-4C9E-9DDC-65A15E0D2464}" type="slidenum">
              <a:rPr lang="en-US" smtClean="0"/>
              <a:t>‹#›</a:t>
            </a:fld>
            <a:endParaRPr lang="en-US"/>
          </a:p>
        </p:txBody>
      </p:sp>
    </p:spTree>
    <p:extLst>
      <p:ext uri="{BB962C8B-B14F-4D97-AF65-F5344CB8AC3E}">
        <p14:creationId xmlns:p14="http://schemas.microsoft.com/office/powerpoint/2010/main" val="32692942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09598" y="2700868"/>
            <a:ext cx="6347715" cy="1826581"/>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09598" y="4527448"/>
            <a:ext cx="6347715"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77D1692B-E401-4ECE-9DC0-5912A708282F}" type="datetimeFigureOut">
              <a:rPr lang="en-US" smtClean="0"/>
              <a:t>12/31/2025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BB5F34-83EB-4C9E-9DDC-65A15E0D2464}" type="slidenum">
              <a:rPr lang="en-US" smtClean="0"/>
              <a:t>‹#›</a:t>
            </a:fld>
            <a:endParaRPr lang="en-US"/>
          </a:p>
        </p:txBody>
      </p:sp>
    </p:spTree>
    <p:extLst>
      <p:ext uri="{BB962C8B-B14F-4D97-AF65-F5344CB8AC3E}">
        <p14:creationId xmlns:p14="http://schemas.microsoft.com/office/powerpoint/2010/main" val="2760367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6347714" cy="1320800"/>
          </a:xfrm>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609600" y="2160589"/>
            <a:ext cx="3088109" cy="3880772"/>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3869204" y="2160590"/>
            <a:ext cx="3088110" cy="388077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77D1692B-E401-4ECE-9DC0-5912A708282F}" type="datetimeFigureOut">
              <a:rPr lang="en-US" smtClean="0"/>
              <a:t>12/31/2025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BB5F34-83EB-4C9E-9DDC-65A15E0D2464}" type="slidenum">
              <a:rPr lang="en-US" smtClean="0"/>
              <a:t>‹#›</a:t>
            </a:fld>
            <a:endParaRPr lang="en-US"/>
          </a:p>
        </p:txBody>
      </p:sp>
    </p:spTree>
    <p:extLst>
      <p:ext uri="{BB962C8B-B14F-4D97-AF65-F5344CB8AC3E}">
        <p14:creationId xmlns:p14="http://schemas.microsoft.com/office/powerpoint/2010/main" val="10312111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3" cy="1320800"/>
          </a:xfrm>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609599"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09599" y="2737246"/>
            <a:ext cx="3090672" cy="3304117"/>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3866640"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3866640" y="2737246"/>
            <a:ext cx="3090672" cy="3304117"/>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77D1692B-E401-4ECE-9DC0-5912A708282F}" type="datetimeFigureOut">
              <a:rPr lang="en-US" smtClean="0"/>
              <a:t>12/31/2025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FBB5F34-83EB-4C9E-9DDC-65A15E0D2464}" type="slidenum">
              <a:rPr lang="en-US" smtClean="0"/>
              <a:t>‹#›</a:t>
            </a:fld>
            <a:endParaRPr lang="en-US"/>
          </a:p>
        </p:txBody>
      </p:sp>
    </p:spTree>
    <p:extLst>
      <p:ext uri="{BB962C8B-B14F-4D97-AF65-F5344CB8AC3E}">
        <p14:creationId xmlns:p14="http://schemas.microsoft.com/office/powerpoint/2010/main" val="30612244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4" cy="1320800"/>
          </a:xfrm>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77D1692B-E401-4ECE-9DC0-5912A708282F}" type="datetimeFigureOut">
              <a:rPr lang="en-US" smtClean="0"/>
              <a:t>12/31/2025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FBB5F34-83EB-4C9E-9DDC-65A15E0D2464}" type="slidenum">
              <a:rPr lang="en-US" smtClean="0"/>
              <a:t>‹#›</a:t>
            </a:fld>
            <a:endParaRPr lang="en-US"/>
          </a:p>
        </p:txBody>
      </p:sp>
    </p:spTree>
    <p:extLst>
      <p:ext uri="{BB962C8B-B14F-4D97-AF65-F5344CB8AC3E}">
        <p14:creationId xmlns:p14="http://schemas.microsoft.com/office/powerpoint/2010/main" val="10096086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7D1692B-E401-4ECE-9DC0-5912A708282F}" type="datetimeFigureOut">
              <a:rPr lang="en-US" smtClean="0"/>
              <a:t>12/31/2025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FBB5F34-83EB-4C9E-9DDC-65A15E0D2464}" type="slidenum">
              <a:rPr lang="en-US" smtClean="0"/>
              <a:t>‹#›</a:t>
            </a:fld>
            <a:endParaRPr lang="en-US"/>
          </a:p>
        </p:txBody>
      </p:sp>
    </p:spTree>
    <p:extLst>
      <p:ext uri="{BB962C8B-B14F-4D97-AF65-F5344CB8AC3E}">
        <p14:creationId xmlns:p14="http://schemas.microsoft.com/office/powerpoint/2010/main" val="9289041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599" y="1498604"/>
            <a:ext cx="2790182" cy="1278466"/>
          </a:xfrm>
        </p:spPr>
        <p:txBody>
          <a:bodyPr anchor="b">
            <a:normAutofit/>
          </a:bodyPr>
          <a:lstStyle>
            <a:lvl1pPr>
              <a:defRPr sz="2000"/>
            </a:lvl1pPr>
          </a:lstStyle>
          <a:p>
            <a:r>
              <a:rPr lang="en-US" smtClean="0"/>
              <a:t>Click to edit Master title style</a:t>
            </a:r>
            <a:endParaRPr lang="en-US" dirty="0"/>
          </a:p>
        </p:txBody>
      </p:sp>
      <p:sp>
        <p:nvSpPr>
          <p:cNvPr id="3" name="Content Placeholder 2"/>
          <p:cNvSpPr>
            <a:spLocks noGrp="1"/>
          </p:cNvSpPr>
          <p:nvPr>
            <p:ph idx="1"/>
          </p:nvPr>
        </p:nvSpPr>
        <p:spPr>
          <a:xfrm>
            <a:off x="3571275" y="514925"/>
            <a:ext cx="3386037" cy="5526437"/>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609599" y="2777069"/>
            <a:ext cx="2790182" cy="2584449"/>
          </a:xfrm>
        </p:spPr>
        <p:txBody>
          <a:bodyPr>
            <a:normAutofit/>
          </a:bodyPr>
          <a:lstStyle>
            <a:lvl1pPr marL="0" indent="0">
              <a:buNone/>
              <a:defRPr sz="14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77D1692B-E401-4ECE-9DC0-5912A708282F}" type="datetimeFigureOut">
              <a:rPr lang="en-US" smtClean="0"/>
              <a:t>12/31/2025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BB5F34-83EB-4C9E-9DDC-65A15E0D2464}" type="slidenum">
              <a:rPr lang="en-US" smtClean="0"/>
              <a:t>‹#›</a:t>
            </a:fld>
            <a:endParaRPr lang="en-US"/>
          </a:p>
        </p:txBody>
      </p:sp>
    </p:spTree>
    <p:extLst>
      <p:ext uri="{BB962C8B-B14F-4D97-AF65-F5344CB8AC3E}">
        <p14:creationId xmlns:p14="http://schemas.microsoft.com/office/powerpoint/2010/main" val="40557351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599" y="4800600"/>
            <a:ext cx="6347714"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09599" y="609600"/>
            <a:ext cx="6347714"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609599" y="5367338"/>
            <a:ext cx="6347714"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77D1692B-E401-4ECE-9DC0-5912A708282F}" type="datetimeFigureOut">
              <a:rPr lang="en-US" smtClean="0"/>
              <a:t>12/31/2025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BB5F34-83EB-4C9E-9DDC-65A15E0D2464}" type="slidenum">
              <a:rPr lang="en-US" smtClean="0"/>
              <a:t>‹#›</a:t>
            </a:fld>
            <a:endParaRPr lang="en-US"/>
          </a:p>
        </p:txBody>
      </p:sp>
    </p:spTree>
    <p:extLst>
      <p:ext uri="{BB962C8B-B14F-4D97-AF65-F5344CB8AC3E}">
        <p14:creationId xmlns:p14="http://schemas.microsoft.com/office/powerpoint/2010/main" val="5429645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6347714" cy="3403600"/>
          </a:xfrm>
        </p:spPr>
        <p:txBody>
          <a:bodyPr anchor="ctr">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09600" y="4470400"/>
            <a:ext cx="6347714"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77D1692B-E401-4ECE-9DC0-5912A708282F}" type="datetimeFigureOut">
              <a:rPr lang="en-US" smtClean="0"/>
              <a:t>12/31/2025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BB5F34-83EB-4C9E-9DDC-65A15E0D2464}" type="slidenum">
              <a:rPr lang="en-US" smtClean="0"/>
              <a:t>‹#›</a:t>
            </a:fld>
            <a:endParaRPr lang="en-US"/>
          </a:p>
        </p:txBody>
      </p:sp>
    </p:spTree>
    <p:extLst>
      <p:ext uri="{BB962C8B-B14F-4D97-AF65-F5344CB8AC3E}">
        <p14:creationId xmlns:p14="http://schemas.microsoft.com/office/powerpoint/2010/main" val="24327995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74885" y="609600"/>
            <a:ext cx="6072182"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1101074" y="3632200"/>
            <a:ext cx="541980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609598" y="4470400"/>
            <a:ext cx="6347715"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77D1692B-E401-4ECE-9DC0-5912A708282F}" type="datetimeFigureOut">
              <a:rPr lang="en-US" smtClean="0"/>
              <a:t>12/31/2025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BB5F34-83EB-4C9E-9DDC-65A15E0D2464}" type="slidenum">
              <a:rPr lang="en-US" smtClean="0"/>
              <a:t>‹#›</a:t>
            </a:fld>
            <a:endParaRPr lang="en-US"/>
          </a:p>
        </p:txBody>
      </p:sp>
      <p:sp>
        <p:nvSpPr>
          <p:cNvPr id="24" name="TextBox 23"/>
          <p:cNvSpPr txBox="1"/>
          <p:nvPr/>
        </p:nvSpPr>
        <p:spPr>
          <a:xfrm>
            <a:off x="482711" y="790378"/>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6747699" y="288655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95995306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09598" y="1931988"/>
            <a:ext cx="6347715" cy="2595460"/>
          </a:xfrm>
        </p:spPr>
        <p:txBody>
          <a:bodyPr anchor="b">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77D1692B-E401-4ECE-9DC0-5912A708282F}" type="datetimeFigureOut">
              <a:rPr lang="en-US" smtClean="0"/>
              <a:t>12/31/2025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BB5F34-83EB-4C9E-9DDC-65A15E0D2464}" type="slidenum">
              <a:rPr lang="en-US" smtClean="0"/>
              <a:t>‹#›</a:t>
            </a:fld>
            <a:endParaRPr lang="en-US"/>
          </a:p>
        </p:txBody>
      </p:sp>
    </p:spTree>
    <p:extLst>
      <p:ext uri="{BB962C8B-B14F-4D97-AF65-F5344CB8AC3E}">
        <p14:creationId xmlns:p14="http://schemas.microsoft.com/office/powerpoint/2010/main" val="46368353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774885" y="609600"/>
            <a:ext cx="6072182"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09597" y="4013200"/>
            <a:ext cx="6347716"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77D1692B-E401-4ECE-9DC0-5912A708282F}" type="datetimeFigureOut">
              <a:rPr lang="en-US" smtClean="0"/>
              <a:t>12/31/2025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BB5F34-83EB-4C9E-9DDC-65A15E0D2464}" type="slidenum">
              <a:rPr lang="en-US" smtClean="0"/>
              <a:t>‹#›</a:t>
            </a:fld>
            <a:endParaRPr lang="en-US"/>
          </a:p>
        </p:txBody>
      </p:sp>
      <p:sp>
        <p:nvSpPr>
          <p:cNvPr id="24" name="TextBox 23"/>
          <p:cNvSpPr txBox="1"/>
          <p:nvPr/>
        </p:nvSpPr>
        <p:spPr>
          <a:xfrm>
            <a:off x="482711" y="790378"/>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6747699" y="288655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92440872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15848" y="609600"/>
            <a:ext cx="6341465"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09597" y="4013200"/>
            <a:ext cx="6347716"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77D1692B-E401-4ECE-9DC0-5912A708282F}" type="datetimeFigureOut">
              <a:rPr lang="en-US" smtClean="0"/>
              <a:t>12/31/2025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BB5F34-83EB-4C9E-9DDC-65A15E0D2464}" type="slidenum">
              <a:rPr lang="en-US" smtClean="0"/>
              <a:t>‹#›</a:t>
            </a:fld>
            <a:endParaRPr lang="en-US"/>
          </a:p>
        </p:txBody>
      </p:sp>
    </p:spTree>
    <p:extLst>
      <p:ext uri="{BB962C8B-B14F-4D97-AF65-F5344CB8AC3E}">
        <p14:creationId xmlns:p14="http://schemas.microsoft.com/office/powerpoint/2010/main" val="147080776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77D1692B-E401-4ECE-9DC0-5912A708282F}" type="datetimeFigureOut">
              <a:rPr lang="en-US" smtClean="0"/>
              <a:t>12/31/2025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BB5F34-83EB-4C9E-9DDC-65A15E0D2464}" type="slidenum">
              <a:rPr lang="en-US" smtClean="0"/>
              <a:t>‹#›</a:t>
            </a:fld>
            <a:endParaRPr lang="en-US"/>
          </a:p>
        </p:txBody>
      </p:sp>
    </p:spTree>
    <p:extLst>
      <p:ext uri="{BB962C8B-B14F-4D97-AF65-F5344CB8AC3E}">
        <p14:creationId xmlns:p14="http://schemas.microsoft.com/office/powerpoint/2010/main" val="60903291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977312" y="609600"/>
            <a:ext cx="978812" cy="5251451"/>
          </a:xfrm>
        </p:spPr>
        <p:txBody>
          <a:bodyPr vert="eaVert" anchor="ct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09599" y="609600"/>
            <a:ext cx="5195026" cy="5251451"/>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77D1692B-E401-4ECE-9DC0-5912A708282F}" type="datetimeFigureOut">
              <a:rPr lang="en-US" smtClean="0"/>
              <a:t>12/31/2025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BB5F34-83EB-4C9E-9DDC-65A15E0D2464}" type="slidenum">
              <a:rPr lang="en-US" smtClean="0"/>
              <a:t>‹#›</a:t>
            </a:fld>
            <a:endParaRPr lang="en-US"/>
          </a:p>
        </p:txBody>
      </p:sp>
    </p:spTree>
    <p:extLst>
      <p:ext uri="{BB962C8B-B14F-4D97-AF65-F5344CB8AC3E}">
        <p14:creationId xmlns:p14="http://schemas.microsoft.com/office/powerpoint/2010/main" val="23460292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17" name="Group 16"/>
          <p:cNvGrpSpPr/>
          <p:nvPr/>
        </p:nvGrpSpPr>
        <p:grpSpPr>
          <a:xfrm>
            <a:off x="-8467" y="-8468"/>
            <a:ext cx="9169805" cy="6874935"/>
            <a:chOff x="-8467" y="-8468"/>
            <a:chExt cx="9169805" cy="6874935"/>
          </a:xfrm>
        </p:grpSpPr>
        <p:sp>
          <p:nvSpPr>
            <p:cNvPr id="7" name="Freeform 6"/>
            <p:cNvSpPr/>
            <p:nvPr/>
          </p:nvSpPr>
          <p:spPr>
            <a:xfrm>
              <a:off x="-8467" y="4013200"/>
              <a:ext cx="457200" cy="2853267"/>
            </a:xfrm>
            <a:custGeom>
              <a:avLst/>
              <a:gdLst/>
              <a:ahLst/>
              <a:cxnLst/>
              <a:rect l="l" t="t" r="r" b="b"/>
              <a:pathLst>
                <a:path w="457200" h="2853267">
                  <a:moveTo>
                    <a:pt x="0" y="0"/>
                  </a:moveTo>
                  <a:lnTo>
                    <a:pt x="457200" y="2853267"/>
                  </a:lnTo>
                  <a:lnTo>
                    <a:pt x="0" y="2844800"/>
                  </a:lnTo>
                  <a:cubicBezTo>
                    <a:pt x="2822" y="1905000"/>
                    <a:pt x="5645" y="965200"/>
                    <a:pt x="0" y="0"/>
                  </a:cubicBez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8" name="Straight Connector 7"/>
            <p:cNvCxnSpPr/>
            <p:nvPr/>
          </p:nvCxnSpPr>
          <p:spPr>
            <a:xfrm flipV="1">
              <a:off x="5130830" y="4175605"/>
              <a:ext cx="4022475" cy="2682396"/>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a:off x="7042707"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10" name="Freeform 9"/>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10"/>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 name="Freeform 11"/>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Freeform 12"/>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Freeform 13"/>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5" name="Freeform 14"/>
            <p:cNvSpPr/>
            <p:nvPr/>
          </p:nvSpPr>
          <p:spPr>
            <a:xfrm>
              <a:off x="8077231"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16" name="Freeform 15"/>
            <p:cNvSpPr/>
            <p:nvPr/>
          </p:nvSpPr>
          <p:spPr>
            <a:xfrm>
              <a:off x="8060297"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09599" y="609600"/>
            <a:ext cx="6347713" cy="1320800"/>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609599" y="2160590"/>
            <a:ext cx="6347714" cy="388077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5405258" y="6041363"/>
            <a:ext cx="684132"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77D1692B-E401-4ECE-9DC0-5912A708282F}" type="datetimeFigureOut">
              <a:rPr lang="en-US" smtClean="0"/>
              <a:t>12/31/2025</a:t>
            </a:fld>
            <a:endParaRPr lang="en-US"/>
          </a:p>
        </p:txBody>
      </p:sp>
      <p:sp>
        <p:nvSpPr>
          <p:cNvPr id="5" name="Footer Placeholder 4"/>
          <p:cNvSpPr>
            <a:spLocks noGrp="1"/>
          </p:cNvSpPr>
          <p:nvPr>
            <p:ph type="ftr" sz="quarter" idx="3"/>
          </p:nvPr>
        </p:nvSpPr>
        <p:spPr>
          <a:xfrm>
            <a:off x="609599" y="6041363"/>
            <a:ext cx="4622973"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44676" y="6041363"/>
            <a:ext cx="512638" cy="365125"/>
          </a:xfrm>
          <a:prstGeom prst="rect">
            <a:avLst/>
          </a:prstGeom>
        </p:spPr>
        <p:txBody>
          <a:bodyPr vert="horz" lIns="91440" tIns="45720" rIns="91440" bIns="45720" rtlCol="0" anchor="ctr"/>
          <a:lstStyle>
            <a:lvl1pPr algn="r">
              <a:defRPr sz="900">
                <a:solidFill>
                  <a:schemeClr val="accent1"/>
                </a:solidFill>
              </a:defRPr>
            </a:lvl1pPr>
          </a:lstStyle>
          <a:p>
            <a:fld id="{5FBB5F34-83EB-4C9E-9DDC-65A15E0D2464}" type="slidenum">
              <a:rPr lang="en-US" smtClean="0"/>
              <a:t>‹#›</a:t>
            </a:fld>
            <a:endParaRPr lang="en-US"/>
          </a:p>
        </p:txBody>
      </p:sp>
    </p:spTree>
    <p:extLst>
      <p:ext uri="{BB962C8B-B14F-4D97-AF65-F5344CB8AC3E}">
        <p14:creationId xmlns:p14="http://schemas.microsoft.com/office/powerpoint/2010/main" val="2866761997"/>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 id="2147483687" r:id="rId15"/>
    <p:sldLayoutId id="2147483688"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6.xml"/><Relationship Id="rId4" Type="http://schemas.openxmlformats.org/officeDocument/2006/relationships/image" Target="../media/image15.png"/></Relationships>
</file>

<file path=ppt/slides/_rels/slide2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21.png"/></Relationships>
</file>

<file path=ppt/slides/_rels/slide2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7.xml"/><Relationship Id="rId4" Type="http://schemas.openxmlformats.org/officeDocument/2006/relationships/image" Target="../media/image33.png"/></Relationships>
</file>

<file path=ppt/slides/_rels/slide34.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xml"/><Relationship Id="rId4" Type="http://schemas.openxmlformats.org/officeDocument/2006/relationships/image" Target="../media/image40.png"/></Relationships>
</file>

<file path=ppt/slides/_rels/slide38.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7.xml"/><Relationship Id="rId5" Type="http://schemas.openxmlformats.org/officeDocument/2006/relationships/image" Target="../media/image46.png"/><Relationship Id="rId4" Type="http://schemas.openxmlformats.org/officeDocument/2006/relationships/image" Target="../media/image45.png"/></Relationships>
</file>

<file path=ppt/slides/_rels/slide40.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image" Target="../media/image66.png"/><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hyperlink" Target="https://en.wikipedia.org/wiki/Eigenvalues_and_eigenvectors" TargetMode="Externa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image" Target="../media/image74.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image" Target="../media/image76.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82.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image" Target="../media/image83.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85.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86.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59632" y="1772816"/>
            <a:ext cx="5826719" cy="1646302"/>
          </a:xfrm>
        </p:spPr>
        <p:txBody>
          <a:bodyPr>
            <a:normAutofit/>
          </a:bodyPr>
          <a:lstStyle/>
          <a:p>
            <a:r>
              <a:rPr lang="en-US" dirty="0" smtClean="0"/>
              <a:t>Linear Algebra</a:t>
            </a:r>
            <a:endParaRPr lang="en-US" dirty="0"/>
          </a:p>
        </p:txBody>
      </p:sp>
      <p:sp>
        <p:nvSpPr>
          <p:cNvPr id="3" name="Subtitle 2"/>
          <p:cNvSpPr>
            <a:spLocks noGrp="1"/>
          </p:cNvSpPr>
          <p:nvPr>
            <p:ph type="subTitle" idx="1"/>
          </p:nvPr>
        </p:nvSpPr>
        <p:spPr/>
        <p:txBody>
          <a:bodyPr/>
          <a:lstStyle/>
          <a:p>
            <a:r>
              <a:rPr lang="en-US" dirty="0"/>
              <a:t>Linear algebra is foundational to data analytics because it provides the mathematical framework to represent and manipulate data efficiently.</a:t>
            </a:r>
            <a:r>
              <a:rPr lang="en-US" dirty="0" smtClean="0"/>
              <a:t>.</a:t>
            </a:r>
            <a:endParaRPr lang="en-US" dirty="0"/>
          </a:p>
        </p:txBody>
      </p:sp>
    </p:spTree>
    <p:extLst>
      <p:ext uri="{BB962C8B-B14F-4D97-AF65-F5344CB8AC3E}">
        <p14:creationId xmlns:p14="http://schemas.microsoft.com/office/powerpoint/2010/main" val="18931013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What is Linear Algebra?</a:t>
            </a:r>
          </a:p>
        </p:txBody>
      </p:sp>
      <p:sp>
        <p:nvSpPr>
          <p:cNvPr id="4" name="Rectangle 1"/>
          <p:cNvSpPr>
            <a:spLocks noGrp="1" noChangeArrowheads="1"/>
          </p:cNvSpPr>
          <p:nvPr>
            <p:ph idx="1"/>
          </p:nvPr>
        </p:nvSpPr>
        <p:spPr bwMode="auto">
          <a:xfrm>
            <a:off x="185248" y="1628800"/>
            <a:ext cx="7196413" cy="24468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800" b="0" i="0" u="none" strike="noStrike" cap="none" normalizeH="0" baseline="0" dirty="0" smtClean="0">
                <a:ln>
                  <a:noFill/>
                </a:ln>
                <a:solidFill>
                  <a:schemeClr val="tx1"/>
                </a:solidFill>
                <a:effectLst/>
                <a:latin typeface="Arial" panose="020B0604020202020204" pitchFamily="34" charset="0"/>
              </a:rPr>
              <a:t>Linear Algebra is the branch of mathematics dealing with vectors, matrices, and their transformations.</a:t>
            </a: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800" b="0" i="0" u="none" strike="noStrike" cap="none" normalizeH="0" baseline="0" dirty="0" smtClean="0">
                <a:ln>
                  <a:noFill/>
                </a:ln>
                <a:solidFill>
                  <a:schemeClr val="tx1"/>
                </a:solidFill>
                <a:effectLst/>
                <a:latin typeface="Arial" panose="020B0604020202020204" pitchFamily="34" charset="0"/>
              </a:rPr>
              <a:t>Core to understanding algorithms in Machine Learning and Data Science.</a:t>
            </a:r>
          </a:p>
          <a:p>
            <a:pPr marL="0" marR="0" lvl="0" indent="0" algn="l" defTabSz="914400" rtl="0" eaLnBrk="0" fontAlgn="base" latinLnBrk="0" hangingPunct="0">
              <a:lnSpc>
                <a:spcPct val="150000"/>
              </a:lnSpc>
              <a:spcBef>
                <a:spcPct val="0"/>
              </a:spcBef>
              <a:spcAft>
                <a:spcPct val="0"/>
              </a:spcAft>
              <a:buClrTx/>
              <a:buSz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3" name="Rectangle 1"/>
          <p:cNvSpPr>
            <a:spLocks noChangeArrowheads="1"/>
          </p:cNvSpPr>
          <p:nvPr/>
        </p:nvSpPr>
        <p:spPr bwMode="auto">
          <a:xfrm rot="10800000" flipV="1">
            <a:off x="185248" y="3501008"/>
            <a:ext cx="7843136" cy="25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800" b="1" i="0" u="none" strike="noStrike" cap="none" normalizeH="0" baseline="0" dirty="0" smtClean="0">
                <a:ln>
                  <a:noFill/>
                </a:ln>
                <a:solidFill>
                  <a:schemeClr val="tx1"/>
                </a:solidFill>
                <a:effectLst/>
                <a:latin typeface="Arial" panose="020B0604020202020204" pitchFamily="34" charset="0"/>
              </a:rPr>
              <a:t>Vectors</a:t>
            </a:r>
            <a:r>
              <a:rPr kumimoji="0" lang="en-US" altLang="en-US" sz="1800" b="0" i="0" u="none" strike="noStrike" cap="none" normalizeH="0" baseline="0" dirty="0" smtClean="0">
                <a:ln>
                  <a:noFill/>
                </a:ln>
                <a:solidFill>
                  <a:schemeClr val="tx1"/>
                </a:solidFill>
                <a:effectLst/>
                <a:latin typeface="Arial" panose="020B0604020202020204" pitchFamily="34" charset="0"/>
              </a:rPr>
              <a:t>: A single data point (like a customer’s features: age, income, etc.) can be represented as a vector.</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800" b="1" i="0" u="none" strike="noStrike" cap="none" normalizeH="0" baseline="0" dirty="0" smtClean="0">
                <a:ln>
                  <a:noFill/>
                </a:ln>
                <a:solidFill>
                  <a:schemeClr val="tx1"/>
                </a:solidFill>
                <a:effectLst/>
                <a:latin typeface="Arial" panose="020B0604020202020204" pitchFamily="34" charset="0"/>
              </a:rPr>
              <a:t>Matrices</a:t>
            </a:r>
            <a:r>
              <a:rPr kumimoji="0" lang="en-US" altLang="en-US" sz="1800" b="0" i="0" u="none" strike="noStrike" cap="none" normalizeH="0" baseline="0" dirty="0" smtClean="0">
                <a:ln>
                  <a:noFill/>
                </a:ln>
                <a:solidFill>
                  <a:schemeClr val="tx1"/>
                </a:solidFill>
                <a:effectLst/>
                <a:latin typeface="Arial" panose="020B0604020202020204" pitchFamily="34" charset="0"/>
              </a:rPr>
              <a:t>: A dataset (rows = observations, columns = features) is naturally represented as a matrix.</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800" b="1" i="0" u="none" strike="noStrike" cap="none" normalizeH="0" baseline="0" dirty="0" smtClean="0">
                <a:ln>
                  <a:noFill/>
                </a:ln>
                <a:solidFill>
                  <a:schemeClr val="tx1"/>
                </a:solidFill>
                <a:effectLst/>
                <a:latin typeface="Arial" panose="020B0604020202020204" pitchFamily="34" charset="0"/>
              </a:rPr>
              <a:t>Example</a:t>
            </a:r>
            <a:r>
              <a:rPr kumimoji="0" lang="en-US" altLang="en-US" sz="1800" b="0" i="0" u="none" strike="noStrike" cap="none" normalizeH="0" baseline="0" dirty="0" smtClean="0">
                <a:ln>
                  <a:noFill/>
                </a:ln>
                <a:solidFill>
                  <a:schemeClr val="tx1"/>
                </a:solidFill>
                <a:effectLst/>
                <a:latin typeface="Arial" panose="020B0604020202020204" pitchFamily="34" charset="0"/>
              </a:rPr>
              <a:t>: A dataset with 1000 customers and 5 features → 1000×5 matrix</a:t>
            </a:r>
          </a:p>
        </p:txBody>
      </p:sp>
    </p:spTree>
    <p:extLst>
      <p:ext uri="{BB962C8B-B14F-4D97-AF65-F5344CB8AC3E}">
        <p14:creationId xmlns:p14="http://schemas.microsoft.com/office/powerpoint/2010/main" val="15407706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842721" cy="803176"/>
          </a:xfrm>
        </p:spPr>
        <p:txBody>
          <a:bodyPr/>
          <a:lstStyle/>
          <a:p>
            <a:r>
              <a:rPr lang="en-US" b="1" dirty="0" smtClean="0"/>
              <a:t>Why Linear Algebra for DA/DS</a:t>
            </a:r>
            <a:endParaRPr lang="en-US" b="1" dirty="0"/>
          </a:p>
        </p:txBody>
      </p:sp>
      <p:sp>
        <p:nvSpPr>
          <p:cNvPr id="3" name="Content Placeholder 2"/>
          <p:cNvSpPr>
            <a:spLocks noGrp="1"/>
          </p:cNvSpPr>
          <p:nvPr>
            <p:ph idx="1"/>
          </p:nvPr>
        </p:nvSpPr>
        <p:spPr>
          <a:xfrm>
            <a:off x="251520" y="1628800"/>
            <a:ext cx="8363272" cy="4589864"/>
          </a:xfrm>
        </p:spPr>
        <p:txBody>
          <a:bodyPr>
            <a:normAutofit lnSpcReduction="10000"/>
          </a:bodyPr>
          <a:lstStyle/>
          <a:p>
            <a:pPr>
              <a:lnSpc>
                <a:spcPct val="150000"/>
              </a:lnSpc>
              <a:buFont typeface="Wingdings" panose="05000000000000000000" pitchFamily="2" charset="2"/>
              <a:buChar char="Ø"/>
            </a:pPr>
            <a:r>
              <a:rPr lang="en-US" sz="2000" dirty="0" smtClean="0"/>
              <a:t>It provides the mathematical frame work to understand, manipulate, and compute with data efficiently.</a:t>
            </a:r>
          </a:p>
          <a:p>
            <a:pPr>
              <a:lnSpc>
                <a:spcPct val="150000"/>
              </a:lnSpc>
              <a:buFont typeface="Wingdings" panose="05000000000000000000" pitchFamily="2" charset="2"/>
              <a:buChar char="Ø"/>
            </a:pPr>
            <a:r>
              <a:rPr lang="en-US" sz="2000" dirty="0" smtClean="0"/>
              <a:t>It is used for </a:t>
            </a:r>
            <a:r>
              <a:rPr lang="en-US" sz="2000" b="1" dirty="0" smtClean="0"/>
              <a:t>tabular data sets(row/column) to represent as matrix</a:t>
            </a:r>
            <a:r>
              <a:rPr lang="en-US" sz="2000" dirty="0" smtClean="0"/>
              <a:t>.</a:t>
            </a:r>
          </a:p>
          <a:p>
            <a:pPr>
              <a:lnSpc>
                <a:spcPct val="150000"/>
              </a:lnSpc>
              <a:buFont typeface="Wingdings" panose="05000000000000000000" pitchFamily="2" charset="2"/>
              <a:buChar char="Ø"/>
            </a:pPr>
            <a:r>
              <a:rPr lang="en-US" sz="2000" dirty="0" smtClean="0"/>
              <a:t>Where each row as data point and each column as feature.</a:t>
            </a:r>
          </a:p>
          <a:p>
            <a:pPr>
              <a:lnSpc>
                <a:spcPct val="150000"/>
              </a:lnSpc>
              <a:buFont typeface="Wingdings" panose="05000000000000000000" pitchFamily="2" charset="2"/>
              <a:buChar char="Ø"/>
            </a:pPr>
            <a:r>
              <a:rPr lang="en-US" sz="2000" dirty="0" smtClean="0"/>
              <a:t>Feature for individual data point are represented as vector in n-dimensional space.</a:t>
            </a:r>
          </a:p>
          <a:p>
            <a:pPr>
              <a:lnSpc>
                <a:spcPct val="150000"/>
              </a:lnSpc>
              <a:buFont typeface="Wingdings" panose="05000000000000000000" pitchFamily="2" charset="2"/>
              <a:buChar char="Ø"/>
            </a:pPr>
            <a:r>
              <a:rPr lang="en-US" sz="2000" dirty="0"/>
              <a:t>To analyze correlation with in data using </a:t>
            </a:r>
            <a:r>
              <a:rPr lang="en-US" sz="2000" b="1" dirty="0"/>
              <a:t>correlation covariance matrix</a:t>
            </a:r>
            <a:r>
              <a:rPr lang="en-US" sz="2000" dirty="0"/>
              <a:t>.</a:t>
            </a:r>
          </a:p>
          <a:p>
            <a:pPr>
              <a:lnSpc>
                <a:spcPct val="150000"/>
              </a:lnSpc>
              <a:buFont typeface="Wingdings" panose="05000000000000000000" pitchFamily="2" charset="2"/>
              <a:buChar char="Ø"/>
            </a:pPr>
            <a:endParaRPr lang="en-US" sz="2000" dirty="0" smtClean="0"/>
          </a:p>
          <a:p>
            <a:pPr>
              <a:lnSpc>
                <a:spcPct val="150000"/>
              </a:lnSpc>
              <a:buFont typeface="Wingdings" panose="05000000000000000000" pitchFamily="2" charset="2"/>
              <a:buChar char="Ø"/>
            </a:pPr>
            <a:endParaRPr lang="en-US" sz="2000" dirty="0" smtClean="0"/>
          </a:p>
          <a:p>
            <a:endParaRPr lang="en-US" dirty="0" smtClean="0"/>
          </a:p>
          <a:p>
            <a:endParaRPr lang="en-US" dirty="0"/>
          </a:p>
        </p:txBody>
      </p:sp>
    </p:spTree>
    <p:extLst>
      <p:ext uri="{BB962C8B-B14F-4D97-AF65-F5344CB8AC3E}">
        <p14:creationId xmlns:p14="http://schemas.microsoft.com/office/powerpoint/2010/main" val="10070756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5536" y="332656"/>
            <a:ext cx="6347713" cy="1320800"/>
          </a:xfrm>
        </p:spPr>
        <p:txBody>
          <a:bodyPr/>
          <a:lstStyle/>
          <a:p>
            <a:r>
              <a:rPr lang="en-US" b="1" dirty="0"/>
              <a:t>Real-Life Analogy</a:t>
            </a:r>
          </a:p>
        </p:txBody>
      </p:sp>
      <p:sp>
        <p:nvSpPr>
          <p:cNvPr id="3" name="Content Placeholder 2"/>
          <p:cNvSpPr>
            <a:spLocks noGrp="1"/>
          </p:cNvSpPr>
          <p:nvPr>
            <p:ph idx="1"/>
          </p:nvPr>
        </p:nvSpPr>
        <p:spPr>
          <a:xfrm>
            <a:off x="323528" y="1196753"/>
            <a:ext cx="7200800" cy="2232248"/>
          </a:xfrm>
        </p:spPr>
        <p:txBody>
          <a:bodyPr/>
          <a:lstStyle/>
          <a:p>
            <a:r>
              <a:rPr lang="en-US" b="1" dirty="0"/>
              <a:t>Online </a:t>
            </a:r>
            <a:r>
              <a:rPr lang="en-US" b="1" dirty="0" smtClean="0"/>
              <a:t>Shopping: </a:t>
            </a:r>
            <a:r>
              <a:rPr lang="en-US" dirty="0" smtClean="0"/>
              <a:t>A </a:t>
            </a:r>
            <a:r>
              <a:rPr lang="en-US" dirty="0"/>
              <a:t>product on an e-commerce site has multiple attributes: price, rating, number of reviews, brand, etc.</a:t>
            </a:r>
          </a:p>
          <a:p>
            <a:r>
              <a:rPr lang="en-US" dirty="0"/>
              <a:t>Each product can be represented as a vector: Product A=[Price: 1000,Rating: 4.5,Reviews: 300,Brand: </a:t>
            </a:r>
            <a:r>
              <a:rPr lang="en-US" dirty="0" smtClean="0"/>
              <a:t>1]</a:t>
            </a:r>
          </a:p>
          <a:p>
            <a:r>
              <a:rPr lang="en-US" dirty="0" smtClean="0"/>
              <a:t>Now, if they want to compare two products, they are essentially comparing vectors.</a:t>
            </a:r>
            <a:endParaRPr lang="en-US" dirty="0"/>
          </a:p>
        </p:txBody>
      </p:sp>
      <p:sp>
        <p:nvSpPr>
          <p:cNvPr id="4" name="Rectangle 3"/>
          <p:cNvSpPr/>
          <p:nvPr/>
        </p:nvSpPr>
        <p:spPr>
          <a:xfrm>
            <a:off x="405847" y="3356992"/>
            <a:ext cx="7416824" cy="2585323"/>
          </a:xfrm>
          <a:prstGeom prst="rect">
            <a:avLst/>
          </a:prstGeom>
        </p:spPr>
        <p:txBody>
          <a:bodyPr wrap="square">
            <a:spAutoFit/>
          </a:bodyPr>
          <a:lstStyle/>
          <a:p>
            <a:pPr marL="285750" indent="-285750">
              <a:lnSpc>
                <a:spcPct val="150000"/>
              </a:lnSpc>
              <a:buFont typeface="Wingdings" panose="05000000000000000000" pitchFamily="2" charset="2"/>
              <a:buChar char="Ø"/>
            </a:pPr>
            <a:r>
              <a:rPr lang="en-US" b="1" dirty="0"/>
              <a:t>Customer Segmentation (Clustering in Business Analytics)</a:t>
            </a:r>
            <a:endParaRPr lang="en-US" dirty="0"/>
          </a:p>
          <a:p>
            <a:pPr marL="285750" indent="-285750">
              <a:lnSpc>
                <a:spcPct val="150000"/>
              </a:lnSpc>
              <a:buFont typeface="Wingdings" panose="05000000000000000000" pitchFamily="2" charset="2"/>
              <a:buChar char="Ø"/>
            </a:pPr>
            <a:r>
              <a:rPr lang="en-US" dirty="0"/>
              <a:t>Customers are often grouped based on their purchase behavior, income, age, and preferences. </a:t>
            </a:r>
            <a:endParaRPr lang="en-US" dirty="0" smtClean="0"/>
          </a:p>
          <a:p>
            <a:pPr marL="285750" indent="-285750">
              <a:lnSpc>
                <a:spcPct val="150000"/>
              </a:lnSpc>
              <a:buFont typeface="Wingdings" panose="05000000000000000000" pitchFamily="2" charset="2"/>
              <a:buChar char="Ø"/>
            </a:pPr>
            <a:r>
              <a:rPr lang="en-US" dirty="0" smtClean="0"/>
              <a:t>Each </a:t>
            </a:r>
            <a:r>
              <a:rPr lang="en-US" dirty="0"/>
              <a:t>customer is a vector in a high-dimensional space.</a:t>
            </a:r>
          </a:p>
          <a:p>
            <a:pPr marL="285750" indent="-285750">
              <a:lnSpc>
                <a:spcPct val="150000"/>
              </a:lnSpc>
              <a:buFont typeface="Wingdings" panose="05000000000000000000" pitchFamily="2" charset="2"/>
              <a:buChar char="Ø"/>
            </a:pPr>
            <a:r>
              <a:rPr lang="en-US" dirty="0"/>
              <a:t>Companies compare these vectors to segment customers and personalize marketing strategies.</a:t>
            </a:r>
          </a:p>
        </p:txBody>
      </p:sp>
    </p:spTree>
    <p:extLst>
      <p:ext uri="{BB962C8B-B14F-4D97-AF65-F5344CB8AC3E}">
        <p14:creationId xmlns:p14="http://schemas.microsoft.com/office/powerpoint/2010/main" val="19644732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23527" y="260648"/>
            <a:ext cx="7128792" cy="2664296"/>
          </a:xfrm>
        </p:spPr>
        <p:txBody>
          <a:bodyPr>
            <a:normAutofit/>
          </a:bodyPr>
          <a:lstStyle/>
          <a:p>
            <a:r>
              <a:rPr lang="en-US" b="1" dirty="0"/>
              <a:t>Financial Analysis (Stock Market Trends)</a:t>
            </a:r>
            <a:endParaRPr lang="en-US" dirty="0"/>
          </a:p>
          <a:p>
            <a:r>
              <a:rPr lang="en-US" dirty="0"/>
              <a:t>A stock’s performance over different days can be seen as a vector.</a:t>
            </a:r>
          </a:p>
          <a:p>
            <a:r>
              <a:rPr lang="en-US" dirty="0"/>
              <a:t>Comparing two stocks is like comparing vectors to see if they move in a similar direction</a:t>
            </a:r>
            <a:r>
              <a:rPr lang="en-US" dirty="0" smtClean="0"/>
              <a:t>.</a:t>
            </a:r>
          </a:p>
          <a:p>
            <a:r>
              <a:rPr lang="en-US" dirty="0"/>
              <a:t>A dataset with columns </a:t>
            </a:r>
            <a:r>
              <a:rPr lang="en-US" b="1" dirty="0"/>
              <a:t>Age, Income, Spending Score</a:t>
            </a:r>
            <a:r>
              <a:rPr lang="en-US" dirty="0"/>
              <a:t> represents each customer as a vector </a:t>
            </a:r>
            <a:r>
              <a:rPr lang="en-US" b="1" dirty="0"/>
              <a:t>(25, 50000, 80)</a:t>
            </a:r>
            <a:r>
              <a:rPr lang="en-US" dirty="0"/>
              <a:t>.</a:t>
            </a:r>
          </a:p>
          <a:p>
            <a:endParaRPr lang="en-US" dirty="0"/>
          </a:p>
        </p:txBody>
      </p:sp>
      <p:sp>
        <p:nvSpPr>
          <p:cNvPr id="4" name="Rectangle 1"/>
          <p:cNvSpPr>
            <a:spLocks noChangeArrowheads="1"/>
          </p:cNvSpPr>
          <p:nvPr/>
        </p:nvSpPr>
        <p:spPr bwMode="auto">
          <a:xfrm rot="10800000" flipV="1">
            <a:off x="323527" y="2835564"/>
            <a:ext cx="7416824" cy="38318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indent="-285750" eaLnBrk="0" fontAlgn="base" hangingPunct="0">
              <a:lnSpc>
                <a:spcPct val="150000"/>
              </a:lnSpc>
              <a:spcBef>
                <a:spcPct val="0"/>
              </a:spcBef>
              <a:spcAft>
                <a:spcPct val="0"/>
              </a:spcAft>
              <a:buFont typeface="Wingdings" panose="05000000000000000000" pitchFamily="2" charset="2"/>
              <a:buChar char="Ø"/>
            </a:pPr>
            <a:r>
              <a:rPr lang="en-US" b="1" dirty="0"/>
              <a:t>Netflix &amp; Spotify Recommendations</a:t>
            </a:r>
            <a:endParaRPr lang="en-US" dirty="0"/>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800" b="0" i="0" u="none" strike="noStrike" cap="none" normalizeH="0" baseline="0" dirty="0" smtClean="0">
                <a:ln>
                  <a:noFill/>
                </a:ln>
                <a:solidFill>
                  <a:schemeClr val="tx1"/>
                </a:solidFill>
                <a:effectLst/>
                <a:latin typeface="Arial" panose="020B0604020202020204" pitchFamily="34" charset="0"/>
              </a:rPr>
              <a:t>When you watch a movie on </a:t>
            </a:r>
            <a:r>
              <a:rPr kumimoji="0" lang="en-US" altLang="en-US" sz="1800" b="1" i="0" u="none" strike="noStrike" cap="none" normalizeH="0" baseline="0" dirty="0" smtClean="0">
                <a:ln>
                  <a:noFill/>
                </a:ln>
                <a:solidFill>
                  <a:schemeClr val="tx1"/>
                </a:solidFill>
                <a:effectLst/>
                <a:latin typeface="Arial" panose="020B0604020202020204" pitchFamily="34" charset="0"/>
              </a:rPr>
              <a:t>Netflix</a:t>
            </a:r>
            <a:r>
              <a:rPr kumimoji="0" lang="en-US" altLang="en-US" sz="1800" b="0" i="0" u="none" strike="noStrike" cap="none" normalizeH="0" baseline="0" dirty="0" smtClean="0">
                <a:ln>
                  <a:noFill/>
                </a:ln>
                <a:solidFill>
                  <a:schemeClr val="tx1"/>
                </a:solidFill>
                <a:effectLst/>
                <a:latin typeface="Arial" panose="020B0604020202020204" pitchFamily="34" charset="0"/>
              </a:rPr>
              <a:t> or listen to songs on </a:t>
            </a:r>
            <a:r>
              <a:rPr kumimoji="0" lang="en-US" altLang="en-US" sz="1800" b="1" i="0" u="none" strike="noStrike" cap="none" normalizeH="0" baseline="0" dirty="0" smtClean="0">
                <a:ln>
                  <a:noFill/>
                </a:ln>
                <a:solidFill>
                  <a:schemeClr val="tx1"/>
                </a:solidFill>
                <a:effectLst/>
                <a:latin typeface="Arial" panose="020B0604020202020204" pitchFamily="34" charset="0"/>
              </a:rPr>
              <a:t>Spotify</a:t>
            </a:r>
            <a:r>
              <a:rPr kumimoji="0" lang="en-US" altLang="en-US" sz="1800" b="0" i="0" u="none" strike="noStrike" cap="none" normalizeH="0" baseline="0" dirty="0" smtClean="0">
                <a:ln>
                  <a:noFill/>
                </a:ln>
                <a:solidFill>
                  <a:schemeClr val="tx1"/>
                </a:solidFill>
                <a:effectLst/>
                <a:latin typeface="Arial" panose="020B0604020202020204" pitchFamily="34" charset="0"/>
              </a:rPr>
              <a:t>, the system suggests similar content.</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800" b="1" i="0" u="none" strike="noStrike" cap="none" normalizeH="0" baseline="0" dirty="0" smtClean="0">
                <a:ln>
                  <a:noFill/>
                </a:ln>
                <a:solidFill>
                  <a:schemeClr val="tx1"/>
                </a:solidFill>
                <a:effectLst/>
                <a:latin typeface="Arial" panose="020B0604020202020204" pitchFamily="34" charset="0"/>
              </a:rPr>
              <a:t>How does it work?</a:t>
            </a:r>
            <a:r>
              <a:rPr kumimoji="0" lang="en-US" altLang="en-US" sz="1800" b="0" i="0" u="none" strike="noStrike" cap="none" normalizeH="0" baseline="0" dirty="0" smtClean="0">
                <a:ln>
                  <a:noFill/>
                </a:ln>
                <a:solidFill>
                  <a:schemeClr val="tx1"/>
                </a:solidFill>
                <a:effectLst/>
                <a:latin typeface="Arial" panose="020B0604020202020204" pitchFamily="34" charset="0"/>
              </a:rPr>
              <a:t> Each movie/song is a </a:t>
            </a:r>
            <a:r>
              <a:rPr kumimoji="0" lang="en-US" altLang="en-US" sz="1800" b="1" i="0" u="none" strike="noStrike" cap="none" normalizeH="0" baseline="0" dirty="0" smtClean="0">
                <a:ln>
                  <a:noFill/>
                </a:ln>
                <a:solidFill>
                  <a:schemeClr val="tx1"/>
                </a:solidFill>
                <a:effectLst/>
                <a:latin typeface="Arial" panose="020B0604020202020204" pitchFamily="34" charset="0"/>
              </a:rPr>
              <a:t>vector</a:t>
            </a:r>
            <a:r>
              <a:rPr kumimoji="0" lang="en-US" altLang="en-US" sz="1800" b="0" i="0" u="none" strike="noStrike" cap="none" normalizeH="0" baseline="0" dirty="0" smtClean="0">
                <a:ln>
                  <a:noFill/>
                </a:ln>
                <a:solidFill>
                  <a:schemeClr val="tx1"/>
                </a:solidFill>
                <a:effectLst/>
                <a:latin typeface="Arial" panose="020B0604020202020204" pitchFamily="34" charset="0"/>
              </a:rPr>
              <a:t> with attributes like genre, duration, director, ratings, etc.</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800" b="1" i="0" u="none" strike="noStrike" cap="none" normalizeH="0" baseline="0" dirty="0" smtClean="0">
                <a:ln>
                  <a:noFill/>
                </a:ln>
                <a:solidFill>
                  <a:schemeClr val="tx1"/>
                </a:solidFill>
                <a:effectLst/>
                <a:latin typeface="Arial" panose="020B0604020202020204" pitchFamily="34" charset="0"/>
              </a:rPr>
              <a:t>Users are vectors too!</a:t>
            </a:r>
            <a:r>
              <a:rPr kumimoji="0" lang="en-US" altLang="en-US" sz="1800" b="0" i="0" u="none" strike="noStrike" cap="none" normalizeH="0" baseline="0" dirty="0" smtClean="0">
                <a:ln>
                  <a:noFill/>
                </a:ln>
                <a:solidFill>
                  <a:schemeClr val="tx1"/>
                </a:solidFill>
                <a:effectLst/>
                <a:latin typeface="Arial" panose="020B0604020202020204" pitchFamily="34" charset="0"/>
              </a:rPr>
              <a:t> Your watching/listening history is converted into a </a:t>
            </a:r>
            <a:r>
              <a:rPr kumimoji="0" lang="en-US" altLang="en-US" sz="1800" b="1" i="0" u="none" strike="noStrike" cap="none" normalizeH="0" baseline="0" dirty="0" smtClean="0">
                <a:ln>
                  <a:noFill/>
                </a:ln>
                <a:solidFill>
                  <a:schemeClr val="tx1"/>
                </a:solidFill>
                <a:effectLst/>
                <a:latin typeface="Arial" panose="020B0604020202020204" pitchFamily="34" charset="0"/>
              </a:rPr>
              <a:t>preference vector</a:t>
            </a:r>
            <a:r>
              <a:rPr kumimoji="0" lang="en-US" altLang="en-US" sz="1800" b="0" i="0" u="none" strike="noStrike" cap="none" normalizeH="0" baseline="0" dirty="0" smtClean="0">
                <a:ln>
                  <a:noFill/>
                </a:ln>
                <a:solidFill>
                  <a:schemeClr val="tx1"/>
                </a:solidFill>
                <a:effectLst/>
                <a:latin typeface="Arial" panose="020B0604020202020204" pitchFamily="34" charset="0"/>
              </a:rPr>
              <a:t>.</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800" b="0" i="0" u="none" strike="noStrike" cap="none" normalizeH="0" baseline="0" dirty="0" smtClean="0">
                <a:ln>
                  <a:noFill/>
                </a:ln>
                <a:solidFill>
                  <a:schemeClr val="tx1"/>
                </a:solidFill>
                <a:effectLst/>
                <a:latin typeface="Arial" panose="020B0604020202020204" pitchFamily="34" charset="0"/>
              </a:rPr>
              <a:t>The recommendation system finds movies/songs with vectors </a:t>
            </a:r>
            <a:r>
              <a:rPr kumimoji="0" lang="en-US" altLang="en-US" sz="1800" b="1" i="0" u="none" strike="noStrike" cap="none" normalizeH="0" baseline="0" dirty="0" smtClean="0">
                <a:ln>
                  <a:noFill/>
                </a:ln>
                <a:solidFill>
                  <a:schemeClr val="tx1"/>
                </a:solidFill>
                <a:effectLst/>
                <a:latin typeface="Arial" panose="020B0604020202020204" pitchFamily="34" charset="0"/>
              </a:rPr>
              <a:t>closest</a:t>
            </a:r>
            <a:r>
              <a:rPr kumimoji="0" lang="en-US" altLang="en-US" sz="1800" b="0" i="0" u="none" strike="noStrike" cap="none" normalizeH="0" baseline="0" dirty="0" smtClean="0">
                <a:ln>
                  <a:noFill/>
                </a:ln>
                <a:solidFill>
                  <a:schemeClr val="tx1"/>
                </a:solidFill>
                <a:effectLst/>
                <a:latin typeface="Arial" panose="020B0604020202020204" pitchFamily="34" charset="0"/>
              </a:rPr>
              <a:t> to yours using similarity measures (like cosine similarity). </a:t>
            </a:r>
          </a:p>
        </p:txBody>
      </p:sp>
    </p:spTree>
    <p:extLst>
      <p:ext uri="{BB962C8B-B14F-4D97-AF65-F5344CB8AC3E}">
        <p14:creationId xmlns:p14="http://schemas.microsoft.com/office/powerpoint/2010/main" val="22303704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a:spLocks noChangeArrowheads="1"/>
          </p:cNvSpPr>
          <p:nvPr/>
        </p:nvSpPr>
        <p:spPr bwMode="auto">
          <a:xfrm rot="10800000" flipV="1">
            <a:off x="0" y="404664"/>
            <a:ext cx="7812360" cy="46628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lvl="0" indent="-285750" eaLnBrk="0" fontAlgn="base" hangingPunct="0">
              <a:lnSpc>
                <a:spcPct val="150000"/>
              </a:lnSpc>
              <a:spcBef>
                <a:spcPct val="0"/>
              </a:spcBef>
              <a:spcAft>
                <a:spcPct val="0"/>
              </a:spcAft>
              <a:buFont typeface="Wingdings" panose="05000000000000000000" pitchFamily="2" charset="2"/>
              <a:buChar char="Ø"/>
            </a:pPr>
            <a:r>
              <a:rPr lang="en-US" b="1" dirty="0"/>
              <a:t>Credit Score &amp; Loan Approval (Customer Profiles as Vectors</a:t>
            </a:r>
            <a:r>
              <a:rPr lang="en-US" b="1" dirty="0" smtClean="0"/>
              <a:t>)</a:t>
            </a:r>
          </a:p>
          <a:p>
            <a:pPr marL="285750" lvl="0" indent="-285750" eaLnBrk="0" fontAlgn="base" hangingPunct="0">
              <a:lnSpc>
                <a:spcPct val="150000"/>
              </a:lnSpc>
              <a:spcBef>
                <a:spcPct val="0"/>
              </a:spcBef>
              <a:spcAft>
                <a:spcPct val="0"/>
              </a:spcAft>
              <a:buFont typeface="Wingdings" panose="05000000000000000000" pitchFamily="2" charset="2"/>
              <a:buChar char="Ø"/>
            </a:pPr>
            <a:r>
              <a:rPr kumimoji="0" lang="en-US" altLang="en-US" sz="1800" b="0" i="0" u="none" strike="noStrike" cap="none" normalizeH="0" baseline="0" dirty="0" smtClean="0">
                <a:ln>
                  <a:noFill/>
                </a:ln>
                <a:solidFill>
                  <a:schemeClr val="tx1"/>
                </a:solidFill>
                <a:effectLst/>
                <a:latin typeface="Arial" panose="020B0604020202020204" pitchFamily="34" charset="0"/>
              </a:rPr>
              <a:t>Banks analyze </a:t>
            </a:r>
            <a:r>
              <a:rPr kumimoji="0" lang="en-US" altLang="en-US" sz="1800" b="1" i="0" u="none" strike="noStrike" cap="none" normalizeH="0" baseline="0" dirty="0" smtClean="0">
                <a:ln>
                  <a:noFill/>
                </a:ln>
                <a:solidFill>
                  <a:schemeClr val="tx1"/>
                </a:solidFill>
                <a:effectLst/>
                <a:latin typeface="Arial" panose="020B0604020202020204" pitchFamily="34" charset="0"/>
              </a:rPr>
              <a:t>past loan applicants</a:t>
            </a:r>
            <a:r>
              <a:rPr kumimoji="0" lang="en-US" altLang="en-US" sz="1800" b="0" i="0" u="none" strike="noStrike" cap="none" normalizeH="0" baseline="0" dirty="0" smtClean="0">
                <a:ln>
                  <a:noFill/>
                </a:ln>
                <a:solidFill>
                  <a:schemeClr val="tx1"/>
                </a:solidFill>
                <a:effectLst/>
                <a:latin typeface="Arial" panose="020B0604020202020204" pitchFamily="34" charset="0"/>
              </a:rPr>
              <a:t> and assign them a credit score based on:</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800" b="0" i="0" u="none" strike="noStrike" cap="none" normalizeH="0" baseline="0" dirty="0" smtClean="0">
                <a:ln>
                  <a:noFill/>
                </a:ln>
                <a:solidFill>
                  <a:schemeClr val="tx1"/>
                </a:solidFill>
                <a:effectLst/>
                <a:latin typeface="Arial" panose="020B0604020202020204" pitchFamily="34" charset="0"/>
              </a:rPr>
              <a:t>Income</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800" b="0" i="0" u="none" strike="noStrike" cap="none" normalizeH="0" baseline="0" dirty="0" smtClean="0">
                <a:ln>
                  <a:noFill/>
                </a:ln>
                <a:solidFill>
                  <a:schemeClr val="tx1"/>
                </a:solidFill>
                <a:effectLst/>
                <a:latin typeface="Arial" panose="020B0604020202020204" pitchFamily="34" charset="0"/>
              </a:rPr>
              <a:t>Debt-to-income ratio</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800" b="0" i="0" u="none" strike="noStrike" cap="none" normalizeH="0" baseline="0" dirty="0" smtClean="0">
                <a:ln>
                  <a:noFill/>
                </a:ln>
                <a:solidFill>
                  <a:schemeClr val="tx1"/>
                </a:solidFill>
                <a:effectLst/>
                <a:latin typeface="Arial" panose="020B0604020202020204" pitchFamily="34" charset="0"/>
              </a:rPr>
              <a:t>Credit history</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800" b="0" i="0" u="none" strike="noStrike" cap="none" normalizeH="0" baseline="0" dirty="0" smtClean="0">
                <a:ln>
                  <a:noFill/>
                </a:ln>
                <a:solidFill>
                  <a:schemeClr val="tx1"/>
                </a:solidFill>
                <a:effectLst/>
                <a:latin typeface="Arial" panose="020B0604020202020204" pitchFamily="34" charset="0"/>
              </a:rPr>
              <a:t>Number of loans</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800" b="0" i="0" u="none" strike="noStrike" cap="none" normalizeH="0" baseline="0" dirty="0" smtClean="0">
                <a:ln>
                  <a:noFill/>
                </a:ln>
                <a:solidFill>
                  <a:schemeClr val="tx1"/>
                </a:solidFill>
                <a:effectLst/>
                <a:latin typeface="Arial" panose="020B0604020202020204" pitchFamily="34" charset="0"/>
              </a:rPr>
              <a:t>Late payments</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800" b="0" i="0" u="none" strike="noStrike" cap="none" normalizeH="0" baseline="0" dirty="0" smtClean="0">
                <a:ln>
                  <a:noFill/>
                </a:ln>
                <a:solidFill>
                  <a:schemeClr val="tx1"/>
                </a:solidFill>
                <a:effectLst/>
                <a:latin typeface="Arial" panose="020B0604020202020204" pitchFamily="34" charset="0"/>
              </a:rPr>
              <a:t>Each customer is a </a:t>
            </a:r>
            <a:r>
              <a:rPr kumimoji="0" lang="en-US" altLang="en-US" sz="1800" b="1" i="0" u="none" strike="noStrike" cap="none" normalizeH="0" baseline="0" dirty="0" smtClean="0">
                <a:ln>
                  <a:noFill/>
                </a:ln>
                <a:solidFill>
                  <a:schemeClr val="tx1"/>
                </a:solidFill>
                <a:effectLst/>
                <a:latin typeface="Arial" panose="020B0604020202020204" pitchFamily="34" charset="0"/>
              </a:rPr>
              <a:t>vector</a:t>
            </a:r>
            <a:r>
              <a:rPr kumimoji="0" lang="en-US" altLang="en-US" sz="1800" b="0" i="0" u="none" strike="noStrike" cap="none" normalizeH="0" baseline="0" dirty="0" smtClean="0">
                <a:ln>
                  <a:noFill/>
                </a:ln>
                <a:solidFill>
                  <a:schemeClr val="tx1"/>
                </a:solidFill>
                <a:effectLst/>
                <a:latin typeface="Arial" panose="020B0604020202020204" pitchFamily="34" charset="0"/>
              </a:rPr>
              <a:t> of these financial attributes.</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800" b="0" i="0" u="none" strike="noStrike" cap="none" normalizeH="0" baseline="0" dirty="0" smtClean="0">
                <a:ln>
                  <a:noFill/>
                </a:ln>
                <a:solidFill>
                  <a:schemeClr val="tx1"/>
                </a:solidFill>
                <a:effectLst/>
                <a:latin typeface="Arial" panose="020B0604020202020204" pitchFamily="34" charset="0"/>
              </a:rPr>
              <a:t>When a new applicant applies, the bank compares their vector with past approved/rejected applicants. </a:t>
            </a:r>
          </a:p>
        </p:txBody>
      </p:sp>
    </p:spTree>
    <p:extLst>
      <p:ext uri="{BB962C8B-B14F-4D97-AF65-F5344CB8AC3E}">
        <p14:creationId xmlns:p14="http://schemas.microsoft.com/office/powerpoint/2010/main" val="3371916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a:spLocks noChangeArrowheads="1"/>
          </p:cNvSpPr>
          <p:nvPr/>
        </p:nvSpPr>
        <p:spPr bwMode="auto">
          <a:xfrm>
            <a:off x="0" y="332656"/>
            <a:ext cx="7487816" cy="4247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lvl="0" indent="-285750" eaLnBrk="0" fontAlgn="base" hangingPunct="0">
              <a:lnSpc>
                <a:spcPct val="150000"/>
              </a:lnSpc>
              <a:spcBef>
                <a:spcPct val="0"/>
              </a:spcBef>
              <a:spcAft>
                <a:spcPct val="0"/>
              </a:spcAft>
              <a:buFont typeface="Wingdings" panose="05000000000000000000" pitchFamily="2" charset="2"/>
              <a:buChar char="Ø"/>
            </a:pPr>
            <a:r>
              <a:rPr lang="en-US" b="1" dirty="0"/>
              <a:t>Marketing &amp; Customer Targeting </a:t>
            </a:r>
            <a:endParaRPr lang="en-US" b="1" dirty="0" smtClean="0"/>
          </a:p>
          <a:p>
            <a:pPr marL="285750" lvl="0" indent="-285750" eaLnBrk="0" fontAlgn="base" hangingPunct="0">
              <a:lnSpc>
                <a:spcPct val="150000"/>
              </a:lnSpc>
              <a:spcBef>
                <a:spcPct val="0"/>
              </a:spcBef>
              <a:spcAft>
                <a:spcPct val="0"/>
              </a:spcAft>
              <a:buFont typeface="Wingdings" panose="05000000000000000000" pitchFamily="2" charset="2"/>
              <a:buChar char="Ø"/>
            </a:pPr>
            <a:r>
              <a:rPr kumimoji="0" lang="en-US" altLang="en-US" sz="1800" b="0" i="0" u="none" strike="noStrike" cap="none" normalizeH="0" baseline="0" dirty="0" smtClean="0">
                <a:ln>
                  <a:noFill/>
                </a:ln>
                <a:solidFill>
                  <a:schemeClr val="tx1"/>
                </a:solidFill>
                <a:effectLst/>
                <a:latin typeface="Arial" panose="020B0604020202020204" pitchFamily="34" charset="0"/>
              </a:rPr>
              <a:t>Ever wondered why you see ads related to your recent searches?</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800" b="0" i="0" u="none" strike="noStrike" cap="none" normalizeH="0" baseline="0" dirty="0" smtClean="0">
                <a:ln>
                  <a:noFill/>
                </a:ln>
                <a:solidFill>
                  <a:schemeClr val="tx1"/>
                </a:solidFill>
                <a:effectLst/>
                <a:latin typeface="Arial" panose="020B0604020202020204" pitchFamily="34" charset="0"/>
              </a:rPr>
              <a:t>Companies create a </a:t>
            </a:r>
            <a:r>
              <a:rPr kumimoji="0" lang="en-US" altLang="en-US" sz="1800" b="1" i="0" u="none" strike="noStrike" cap="none" normalizeH="0" baseline="0" dirty="0" smtClean="0">
                <a:ln>
                  <a:noFill/>
                </a:ln>
                <a:solidFill>
                  <a:schemeClr val="tx1"/>
                </a:solidFill>
                <a:effectLst/>
                <a:latin typeface="Arial" panose="020B0604020202020204" pitchFamily="34" charset="0"/>
              </a:rPr>
              <a:t>customer persona vector</a:t>
            </a:r>
            <a:r>
              <a:rPr kumimoji="0" lang="en-US" altLang="en-US" sz="1800" b="0" i="0" u="none" strike="noStrike" cap="none" normalizeH="0" baseline="0" dirty="0" smtClean="0">
                <a:ln>
                  <a:noFill/>
                </a:ln>
                <a:solidFill>
                  <a:schemeClr val="tx1"/>
                </a:solidFill>
                <a:effectLst/>
                <a:latin typeface="Arial" panose="020B0604020202020204" pitchFamily="34" charset="0"/>
              </a:rPr>
              <a:t> for you based on:</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800" b="0" i="0" u="none" strike="noStrike" cap="none" normalizeH="0" baseline="0" dirty="0" smtClean="0">
                <a:ln>
                  <a:noFill/>
                </a:ln>
                <a:solidFill>
                  <a:schemeClr val="tx1"/>
                </a:solidFill>
                <a:effectLst/>
                <a:latin typeface="Arial" panose="020B0604020202020204" pitchFamily="34" charset="0"/>
              </a:rPr>
              <a:t>Age</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800" b="0" i="0" u="none" strike="noStrike" cap="none" normalizeH="0" baseline="0" dirty="0" smtClean="0">
                <a:ln>
                  <a:noFill/>
                </a:ln>
                <a:solidFill>
                  <a:schemeClr val="tx1"/>
                </a:solidFill>
                <a:effectLst/>
                <a:latin typeface="Arial" panose="020B0604020202020204" pitchFamily="34" charset="0"/>
              </a:rPr>
              <a:t>Location</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800" b="0" i="0" u="none" strike="noStrike" cap="none" normalizeH="0" baseline="0" dirty="0" smtClean="0">
                <a:ln>
                  <a:noFill/>
                </a:ln>
                <a:solidFill>
                  <a:schemeClr val="tx1"/>
                </a:solidFill>
                <a:effectLst/>
                <a:latin typeface="Arial" panose="020B0604020202020204" pitchFamily="34" charset="0"/>
              </a:rPr>
              <a:t>Browsing history</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800" b="0" i="0" u="none" strike="noStrike" cap="none" normalizeH="0" baseline="0" dirty="0" smtClean="0">
                <a:ln>
                  <a:noFill/>
                </a:ln>
                <a:solidFill>
                  <a:schemeClr val="tx1"/>
                </a:solidFill>
                <a:effectLst/>
                <a:latin typeface="Arial" panose="020B0604020202020204" pitchFamily="34" charset="0"/>
              </a:rPr>
              <a:t>Purchase behavior</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800" b="0" i="0" u="none" strike="noStrike" cap="none" normalizeH="0" baseline="0" dirty="0" smtClean="0">
                <a:ln>
                  <a:noFill/>
                </a:ln>
                <a:solidFill>
                  <a:schemeClr val="tx1"/>
                </a:solidFill>
                <a:effectLst/>
                <a:latin typeface="Arial" panose="020B0604020202020204" pitchFamily="34" charset="0"/>
              </a:rPr>
              <a:t>Social media activity</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800" b="0" i="0" u="none" strike="noStrike" cap="none" normalizeH="0" baseline="0" dirty="0" smtClean="0">
                <a:ln>
                  <a:noFill/>
                </a:ln>
                <a:solidFill>
                  <a:schemeClr val="tx1"/>
                </a:solidFill>
                <a:effectLst/>
                <a:latin typeface="Arial" panose="020B0604020202020204" pitchFamily="34" charset="0"/>
              </a:rPr>
              <a:t>They then match your vector with others who have made similar purchases and show you ads accordingly. </a:t>
            </a:r>
          </a:p>
        </p:txBody>
      </p:sp>
    </p:spTree>
    <p:extLst>
      <p:ext uri="{BB962C8B-B14F-4D97-AF65-F5344CB8AC3E}">
        <p14:creationId xmlns:p14="http://schemas.microsoft.com/office/powerpoint/2010/main" val="14663577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a:spLocks noChangeArrowheads="1"/>
          </p:cNvSpPr>
          <p:nvPr/>
        </p:nvSpPr>
        <p:spPr bwMode="auto">
          <a:xfrm rot="10800000" flipV="1">
            <a:off x="179512" y="548680"/>
            <a:ext cx="7343800" cy="46628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lvl="0" indent="-285750" eaLnBrk="0" fontAlgn="base" hangingPunct="0">
              <a:lnSpc>
                <a:spcPct val="150000"/>
              </a:lnSpc>
              <a:spcBef>
                <a:spcPct val="0"/>
              </a:spcBef>
              <a:spcAft>
                <a:spcPct val="0"/>
              </a:spcAft>
              <a:buFont typeface="Wingdings" panose="05000000000000000000" pitchFamily="2" charset="2"/>
              <a:buChar char="Ø"/>
            </a:pPr>
            <a:r>
              <a:rPr lang="en-US" b="1" dirty="0"/>
              <a:t>Sports Analytics (Player Performance as Vectors</a:t>
            </a:r>
            <a:r>
              <a:rPr lang="en-US" b="1" dirty="0" smtClean="0"/>
              <a:t>)</a:t>
            </a:r>
          </a:p>
          <a:p>
            <a:pPr marL="285750" lvl="0" indent="-285750" eaLnBrk="0" fontAlgn="base" hangingPunct="0">
              <a:lnSpc>
                <a:spcPct val="150000"/>
              </a:lnSpc>
              <a:spcBef>
                <a:spcPct val="0"/>
              </a:spcBef>
              <a:spcAft>
                <a:spcPct val="0"/>
              </a:spcAft>
              <a:buFont typeface="Wingdings" panose="05000000000000000000" pitchFamily="2" charset="2"/>
              <a:buChar char="Ø"/>
            </a:pPr>
            <a:r>
              <a:rPr kumimoji="0" lang="en-US" altLang="en-US" sz="1800" b="0" i="0" u="none" strike="noStrike" cap="none" normalizeH="0" baseline="0" dirty="0" smtClean="0">
                <a:ln>
                  <a:noFill/>
                </a:ln>
                <a:solidFill>
                  <a:schemeClr val="tx1"/>
                </a:solidFill>
                <a:effectLst/>
                <a:latin typeface="Arial" panose="020B0604020202020204" pitchFamily="34" charset="0"/>
              </a:rPr>
              <a:t>In sports, players are evaluated based on:</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800" b="0" i="0" u="none" strike="noStrike" cap="none" normalizeH="0" baseline="0" dirty="0" smtClean="0">
                <a:ln>
                  <a:noFill/>
                </a:ln>
                <a:solidFill>
                  <a:schemeClr val="tx1"/>
                </a:solidFill>
                <a:effectLst/>
                <a:latin typeface="Arial" panose="020B0604020202020204" pitchFamily="34" charset="0"/>
              </a:rPr>
              <a:t>Goals scored</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800" b="0" i="0" u="none" strike="noStrike" cap="none" normalizeH="0" baseline="0" dirty="0" smtClean="0">
                <a:ln>
                  <a:noFill/>
                </a:ln>
                <a:solidFill>
                  <a:schemeClr val="tx1"/>
                </a:solidFill>
                <a:effectLst/>
                <a:latin typeface="Arial" panose="020B0604020202020204" pitchFamily="34" charset="0"/>
              </a:rPr>
              <a:t>Pass accuracy</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800" b="0" i="0" u="none" strike="noStrike" cap="none" normalizeH="0" baseline="0" dirty="0" smtClean="0">
                <a:ln>
                  <a:noFill/>
                </a:ln>
                <a:solidFill>
                  <a:schemeClr val="tx1"/>
                </a:solidFill>
                <a:effectLst/>
                <a:latin typeface="Arial" panose="020B0604020202020204" pitchFamily="34" charset="0"/>
              </a:rPr>
              <a:t>Speed</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800" b="0" i="0" u="none" strike="noStrike" cap="none" normalizeH="0" baseline="0" dirty="0" smtClean="0">
                <a:ln>
                  <a:noFill/>
                </a:ln>
                <a:solidFill>
                  <a:schemeClr val="tx1"/>
                </a:solidFill>
                <a:effectLst/>
                <a:latin typeface="Arial" panose="020B0604020202020204" pitchFamily="34" charset="0"/>
              </a:rPr>
              <a:t>Stamina</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800" b="0" i="0" u="none" strike="noStrike" cap="none" normalizeH="0" baseline="0" dirty="0" smtClean="0">
                <a:ln>
                  <a:noFill/>
                </a:ln>
                <a:solidFill>
                  <a:schemeClr val="tx1"/>
                </a:solidFill>
                <a:effectLst/>
                <a:latin typeface="Arial" panose="020B0604020202020204" pitchFamily="34" charset="0"/>
              </a:rPr>
              <a:t>Defensive skills</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800" b="0" i="0" u="none" strike="noStrike" cap="none" normalizeH="0" baseline="0" dirty="0" smtClean="0">
                <a:ln>
                  <a:noFill/>
                </a:ln>
                <a:solidFill>
                  <a:schemeClr val="tx1"/>
                </a:solidFill>
                <a:effectLst/>
                <a:latin typeface="Arial" panose="020B0604020202020204" pitchFamily="34" charset="0"/>
              </a:rPr>
              <a:t>A footballer with </a:t>
            </a:r>
            <a:r>
              <a:rPr kumimoji="0" lang="en-US" altLang="en-US" sz="1800" b="1" i="0" u="none" strike="noStrike" cap="none" normalizeH="0" baseline="0" dirty="0" smtClean="0">
                <a:ln>
                  <a:noFill/>
                </a:ln>
                <a:solidFill>
                  <a:schemeClr val="tx1"/>
                </a:solidFill>
                <a:effectLst/>
                <a:latin typeface="Arial" panose="020B0604020202020204" pitchFamily="34" charset="0"/>
              </a:rPr>
              <a:t>(15 goals, 90% pass accuracy, 30 tackles, 80 sprint speed)</a:t>
            </a:r>
            <a:r>
              <a:rPr kumimoji="0" lang="en-US" altLang="en-US" sz="1800" b="0" i="0" u="none" strike="noStrike" cap="none" normalizeH="0" baseline="0" dirty="0" smtClean="0">
                <a:ln>
                  <a:noFill/>
                </a:ln>
                <a:solidFill>
                  <a:schemeClr val="tx1"/>
                </a:solidFill>
                <a:effectLst/>
                <a:latin typeface="Arial" panose="020B0604020202020204" pitchFamily="34" charset="0"/>
              </a:rPr>
              <a:t> is a vector.</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800" b="0" i="0" u="none" strike="noStrike" cap="none" normalizeH="0" baseline="0" dirty="0" smtClean="0">
                <a:ln>
                  <a:noFill/>
                </a:ln>
                <a:solidFill>
                  <a:schemeClr val="tx1"/>
                </a:solidFill>
                <a:effectLst/>
                <a:latin typeface="Arial" panose="020B0604020202020204" pitchFamily="34" charset="0"/>
              </a:rPr>
              <a:t>Coaches compare these </a:t>
            </a:r>
            <a:r>
              <a:rPr kumimoji="0" lang="en-US" altLang="en-US" sz="1800" b="1" i="0" u="none" strike="noStrike" cap="none" normalizeH="0" baseline="0" dirty="0" smtClean="0">
                <a:ln>
                  <a:noFill/>
                </a:ln>
                <a:solidFill>
                  <a:schemeClr val="tx1"/>
                </a:solidFill>
                <a:effectLst/>
                <a:latin typeface="Arial" panose="020B0604020202020204" pitchFamily="34" charset="0"/>
              </a:rPr>
              <a:t>player vectors</a:t>
            </a:r>
            <a:r>
              <a:rPr kumimoji="0" lang="en-US" altLang="en-US" sz="1800" b="0" i="0" u="none" strike="noStrike" cap="none" normalizeH="0" baseline="0" dirty="0" smtClean="0">
                <a:ln>
                  <a:noFill/>
                </a:ln>
                <a:solidFill>
                  <a:schemeClr val="tx1"/>
                </a:solidFill>
                <a:effectLst/>
                <a:latin typeface="Arial" panose="020B0604020202020204" pitchFamily="34" charset="0"/>
              </a:rPr>
              <a:t> to find the best fit for the team. </a:t>
            </a:r>
          </a:p>
        </p:txBody>
      </p:sp>
    </p:spTree>
    <p:extLst>
      <p:ext uri="{BB962C8B-B14F-4D97-AF65-F5344CB8AC3E}">
        <p14:creationId xmlns:p14="http://schemas.microsoft.com/office/powerpoint/2010/main" val="38532086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476672"/>
            <a:ext cx="6347713" cy="1320800"/>
          </a:xfrm>
        </p:spPr>
        <p:txBody>
          <a:bodyPr/>
          <a:lstStyle/>
          <a:p>
            <a:r>
              <a:rPr lang="en-US" b="1" dirty="0"/>
              <a:t>Why Are Vectors Important?</a:t>
            </a:r>
          </a:p>
        </p:txBody>
      </p:sp>
      <p:sp>
        <p:nvSpPr>
          <p:cNvPr id="3" name="Content Placeholder 2"/>
          <p:cNvSpPr>
            <a:spLocks noGrp="1"/>
          </p:cNvSpPr>
          <p:nvPr>
            <p:ph idx="1"/>
          </p:nvPr>
        </p:nvSpPr>
        <p:spPr>
          <a:xfrm>
            <a:off x="179512" y="1412776"/>
            <a:ext cx="7266191" cy="3880773"/>
          </a:xfrm>
        </p:spPr>
        <p:txBody>
          <a:bodyPr/>
          <a:lstStyle/>
          <a:p>
            <a:pPr>
              <a:lnSpc>
                <a:spcPct val="150000"/>
              </a:lnSpc>
              <a:buFont typeface="Wingdings" panose="05000000000000000000" pitchFamily="2" charset="2"/>
              <a:buChar char="Ø"/>
            </a:pPr>
            <a:r>
              <a:rPr lang="en-US" dirty="0"/>
              <a:t>Every business and tech application today represents data as </a:t>
            </a:r>
            <a:r>
              <a:rPr lang="en-US" b="1" dirty="0"/>
              <a:t>vectors</a:t>
            </a:r>
            <a:r>
              <a:rPr lang="en-US" dirty="0" smtClean="0"/>
              <a:t>.</a:t>
            </a:r>
          </a:p>
          <a:p>
            <a:pPr>
              <a:lnSpc>
                <a:spcPct val="150000"/>
              </a:lnSpc>
              <a:buFont typeface="Wingdings" panose="05000000000000000000" pitchFamily="2" charset="2"/>
              <a:buChar char="Ø"/>
            </a:pPr>
            <a:r>
              <a:rPr lang="en-US" dirty="0" smtClean="0"/>
              <a:t> </a:t>
            </a:r>
            <a:r>
              <a:rPr lang="en-US" dirty="0"/>
              <a:t>Understanding vectors helps analyze, compare, and predict patterns in </a:t>
            </a:r>
            <a:r>
              <a:rPr lang="en-US" b="1" dirty="0"/>
              <a:t>finance, marketing, sports, e-commerce, and social </a:t>
            </a:r>
            <a:r>
              <a:rPr lang="en-US" b="1" dirty="0" smtClean="0"/>
              <a:t>media</a:t>
            </a:r>
            <a:r>
              <a:rPr lang="en-US" dirty="0" smtClean="0"/>
              <a:t>.</a:t>
            </a:r>
          </a:p>
          <a:p>
            <a:pPr>
              <a:lnSpc>
                <a:spcPct val="150000"/>
              </a:lnSpc>
              <a:buFont typeface="Wingdings" panose="05000000000000000000" pitchFamily="2" charset="2"/>
              <a:buChar char="Ø"/>
            </a:pPr>
            <a:r>
              <a:rPr lang="en-US" dirty="0" smtClean="0"/>
              <a:t>Without </a:t>
            </a:r>
            <a:r>
              <a:rPr lang="en-US" dirty="0"/>
              <a:t>vectors, there would be </a:t>
            </a:r>
            <a:r>
              <a:rPr lang="en-US" b="1" dirty="0"/>
              <a:t>no</a:t>
            </a:r>
            <a:r>
              <a:rPr lang="en-US" dirty="0"/>
              <a:t> Google Search, Netflix recommendations, credit scoring, or targeted ads!</a:t>
            </a:r>
          </a:p>
        </p:txBody>
      </p:sp>
    </p:spTree>
    <p:extLst>
      <p:ext uri="{BB962C8B-B14F-4D97-AF65-F5344CB8AC3E}">
        <p14:creationId xmlns:p14="http://schemas.microsoft.com/office/powerpoint/2010/main" val="12283677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7052" y="260648"/>
            <a:ext cx="7272808" cy="1320800"/>
          </a:xfrm>
        </p:spPr>
        <p:txBody>
          <a:bodyPr/>
          <a:lstStyle/>
          <a:p>
            <a:r>
              <a:rPr lang="en-US" b="1" dirty="0"/>
              <a:t>Vector Math Helps in Decision-Making</a:t>
            </a:r>
          </a:p>
        </p:txBody>
      </p:sp>
      <p:sp>
        <p:nvSpPr>
          <p:cNvPr id="4" name="Rectangle 1"/>
          <p:cNvSpPr>
            <a:spLocks noGrp="1" noChangeArrowheads="1"/>
          </p:cNvSpPr>
          <p:nvPr>
            <p:ph idx="1"/>
          </p:nvPr>
        </p:nvSpPr>
        <p:spPr bwMode="auto">
          <a:xfrm>
            <a:off x="343302" y="1844824"/>
            <a:ext cx="6880308" cy="17030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800" b="1" i="0" u="none" strike="noStrike" cap="none" normalizeH="0" baseline="0" smtClean="0">
                <a:ln>
                  <a:noFill/>
                </a:ln>
                <a:solidFill>
                  <a:schemeClr val="tx1"/>
                </a:solidFill>
                <a:effectLst/>
                <a:latin typeface="Arial" panose="020B0604020202020204" pitchFamily="34" charset="0"/>
              </a:rPr>
              <a:t>Distance between vectors</a:t>
            </a:r>
            <a:r>
              <a:rPr kumimoji="0" lang="en-US" altLang="en-US" sz="1800" b="0" i="0" u="none" strike="noStrike" cap="none" normalizeH="0" baseline="0" smtClean="0">
                <a:ln>
                  <a:noFill/>
                </a:ln>
                <a:solidFill>
                  <a:schemeClr val="tx1"/>
                </a:solidFill>
                <a:effectLst/>
                <a:latin typeface="Arial" panose="020B0604020202020204" pitchFamily="34" charset="0"/>
              </a:rPr>
              <a:t> → Helps in finding similar customers, products, or trends.</a:t>
            </a: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800" b="1" i="0" u="none" strike="noStrike" cap="none" normalizeH="0" baseline="0" smtClean="0">
                <a:ln>
                  <a:noFill/>
                </a:ln>
                <a:solidFill>
                  <a:schemeClr val="tx1"/>
                </a:solidFill>
                <a:effectLst/>
                <a:latin typeface="Arial" panose="020B0604020202020204" pitchFamily="34" charset="0"/>
              </a:rPr>
              <a:t>Direction of vectors</a:t>
            </a:r>
            <a:r>
              <a:rPr kumimoji="0" lang="en-US" altLang="en-US" sz="1800" b="0" i="0" u="none" strike="noStrike" cap="none" normalizeH="0" baseline="0" smtClean="0">
                <a:ln>
                  <a:noFill/>
                </a:ln>
                <a:solidFill>
                  <a:schemeClr val="tx1"/>
                </a:solidFill>
                <a:effectLst/>
                <a:latin typeface="Arial" panose="020B0604020202020204" pitchFamily="34" charset="0"/>
              </a:rPr>
              <a:t> → Helps in understanding growth trends and movement in data. </a:t>
            </a:r>
          </a:p>
        </p:txBody>
      </p:sp>
    </p:spTree>
    <p:extLst>
      <p:ext uri="{BB962C8B-B14F-4D97-AF65-F5344CB8AC3E}">
        <p14:creationId xmlns:p14="http://schemas.microsoft.com/office/powerpoint/2010/main" val="17281944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5536" y="332656"/>
            <a:ext cx="4690864" cy="780696"/>
          </a:xfrm>
        </p:spPr>
        <p:txBody>
          <a:bodyPr>
            <a:normAutofit/>
          </a:bodyPr>
          <a:lstStyle/>
          <a:p>
            <a:r>
              <a:rPr lang="en-US" sz="4000" b="1" dirty="0"/>
              <a:t>Core </a:t>
            </a:r>
            <a:r>
              <a:rPr lang="en-US" sz="4000" b="1" dirty="0" smtClean="0"/>
              <a:t>Concepts</a:t>
            </a:r>
            <a:endParaRPr lang="en-US" sz="4000" dirty="0"/>
          </a:p>
        </p:txBody>
      </p:sp>
      <p:sp>
        <p:nvSpPr>
          <p:cNvPr id="3" name="Content Placeholder 2"/>
          <p:cNvSpPr>
            <a:spLocks noGrp="1"/>
          </p:cNvSpPr>
          <p:nvPr>
            <p:ph idx="1"/>
          </p:nvPr>
        </p:nvSpPr>
        <p:spPr>
          <a:xfrm>
            <a:off x="179512" y="1268760"/>
            <a:ext cx="7272808" cy="4389120"/>
          </a:xfrm>
        </p:spPr>
        <p:txBody>
          <a:bodyPr>
            <a:normAutofit/>
          </a:bodyPr>
          <a:lstStyle/>
          <a:p>
            <a:pPr>
              <a:lnSpc>
                <a:spcPct val="160000"/>
              </a:lnSpc>
              <a:buFont typeface="Wingdings" panose="05000000000000000000" pitchFamily="2" charset="2"/>
              <a:buChar char="Ø"/>
            </a:pPr>
            <a:r>
              <a:rPr lang="en-US" b="1" dirty="0"/>
              <a:t>Scalars (0-Dimensional Tensors</a:t>
            </a:r>
            <a:r>
              <a:rPr lang="en-US" b="1" dirty="0" smtClean="0"/>
              <a:t>)</a:t>
            </a:r>
          </a:p>
          <a:p>
            <a:pPr>
              <a:lnSpc>
                <a:spcPct val="160000"/>
              </a:lnSpc>
              <a:buFont typeface="Wingdings" panose="05000000000000000000" pitchFamily="2" charset="2"/>
              <a:buChar char="Ø"/>
            </a:pPr>
            <a:r>
              <a:rPr lang="en-US" b="1" dirty="0" smtClean="0"/>
              <a:t>Vectors (</a:t>
            </a:r>
            <a:r>
              <a:rPr lang="en-US" b="1" dirty="0"/>
              <a:t>1-Dimensional </a:t>
            </a:r>
            <a:r>
              <a:rPr lang="en-US" b="1" dirty="0" smtClean="0"/>
              <a:t>Tensors) </a:t>
            </a:r>
            <a:r>
              <a:rPr lang="en-US" b="1" dirty="0"/>
              <a:t>and </a:t>
            </a:r>
            <a:r>
              <a:rPr lang="en-US" b="1" dirty="0" smtClean="0"/>
              <a:t>Matrices (2-Dimensional Tensors)</a:t>
            </a:r>
            <a:endParaRPr lang="en-US" b="1" dirty="0"/>
          </a:p>
          <a:p>
            <a:pPr>
              <a:lnSpc>
                <a:spcPct val="160000"/>
              </a:lnSpc>
              <a:buFont typeface="Wingdings" panose="05000000000000000000" pitchFamily="2" charset="2"/>
              <a:buChar char="Ø"/>
            </a:pPr>
            <a:r>
              <a:rPr lang="en-US" b="1" dirty="0" smtClean="0"/>
              <a:t>Matrix Operations</a:t>
            </a:r>
          </a:p>
          <a:p>
            <a:pPr>
              <a:lnSpc>
                <a:spcPct val="160000"/>
              </a:lnSpc>
              <a:buFont typeface="Wingdings" panose="05000000000000000000" pitchFamily="2" charset="2"/>
              <a:buChar char="Ø"/>
            </a:pPr>
            <a:r>
              <a:rPr lang="en-US" b="1" dirty="0" smtClean="0"/>
              <a:t>Norm(L1 andL2)</a:t>
            </a:r>
          </a:p>
          <a:p>
            <a:pPr>
              <a:lnSpc>
                <a:spcPct val="160000"/>
              </a:lnSpc>
              <a:buFont typeface="Wingdings" panose="05000000000000000000" pitchFamily="2" charset="2"/>
              <a:buChar char="Ø"/>
            </a:pPr>
            <a:r>
              <a:rPr lang="en-US" b="1" dirty="0" smtClean="0"/>
              <a:t>Cosine Similarity</a:t>
            </a:r>
          </a:p>
          <a:p>
            <a:pPr>
              <a:lnSpc>
                <a:spcPct val="160000"/>
              </a:lnSpc>
              <a:buFont typeface="Wingdings" panose="05000000000000000000" pitchFamily="2" charset="2"/>
              <a:buChar char="Ø"/>
            </a:pPr>
            <a:r>
              <a:rPr lang="en-US" b="1" dirty="0" smtClean="0"/>
              <a:t>Normalization</a:t>
            </a:r>
          </a:p>
          <a:p>
            <a:pPr>
              <a:lnSpc>
                <a:spcPct val="160000"/>
              </a:lnSpc>
              <a:buFont typeface="Wingdings" panose="05000000000000000000" pitchFamily="2" charset="2"/>
              <a:buChar char="Ø"/>
            </a:pPr>
            <a:r>
              <a:rPr lang="en-US" b="1" dirty="0" smtClean="0"/>
              <a:t>Eigen Vector and Eigen Value</a:t>
            </a:r>
            <a:endParaRPr lang="en-US" dirty="0"/>
          </a:p>
          <a:p>
            <a:pPr marL="0" indent="0">
              <a:buNone/>
            </a:pPr>
            <a:endParaRPr lang="en-US" dirty="0"/>
          </a:p>
        </p:txBody>
      </p:sp>
    </p:spTree>
    <p:extLst>
      <p:ext uri="{BB962C8B-B14F-4D97-AF65-F5344CB8AC3E}">
        <p14:creationId xmlns:p14="http://schemas.microsoft.com/office/powerpoint/2010/main" val="4141549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1" algn="l" defTabSz="457200" rtl="0">
              <a:lnSpc>
                <a:spcPct val="150000"/>
              </a:lnSpc>
              <a:spcBef>
                <a:spcPct val="0"/>
              </a:spcBef>
            </a:pPr>
            <a:r>
              <a:rPr lang="en-US" sz="3200" b="1" kern="1200" dirty="0">
                <a:solidFill>
                  <a:schemeClr val="accent1"/>
                </a:solidFill>
                <a:latin typeface="+mj-lt"/>
                <a:ea typeface="+mj-ea"/>
                <a:cs typeface="+mj-cs"/>
              </a:rPr>
              <a:t>Scalars (0-Dimensional Tensors):</a:t>
            </a:r>
          </a:p>
        </p:txBody>
      </p:sp>
      <p:sp>
        <p:nvSpPr>
          <p:cNvPr id="3" name="Content Placeholder 2"/>
          <p:cNvSpPr>
            <a:spLocks noGrp="1"/>
          </p:cNvSpPr>
          <p:nvPr>
            <p:ph idx="1"/>
          </p:nvPr>
        </p:nvSpPr>
        <p:spPr>
          <a:xfrm>
            <a:off x="609598" y="1772816"/>
            <a:ext cx="6770714" cy="3880773"/>
          </a:xfrm>
        </p:spPr>
        <p:txBody>
          <a:bodyPr/>
          <a:lstStyle/>
          <a:p>
            <a:pPr marL="263525" lvl="2">
              <a:lnSpc>
                <a:spcPct val="150000"/>
              </a:lnSpc>
              <a:buFont typeface="Wingdings" panose="05000000000000000000" pitchFamily="2" charset="2"/>
              <a:buChar char="Ø"/>
            </a:pPr>
            <a:r>
              <a:rPr lang="en-US" sz="2000" dirty="0"/>
              <a:t>A scalar is a single number or a single value. It has zero dimensions (0-D tensor</a:t>
            </a:r>
            <a:r>
              <a:rPr lang="en-US" sz="2000" dirty="0" smtClean="0"/>
              <a:t>).</a:t>
            </a:r>
          </a:p>
          <a:p>
            <a:pPr marL="263525" lvl="2">
              <a:lnSpc>
                <a:spcPct val="150000"/>
              </a:lnSpc>
              <a:buFont typeface="Wingdings" panose="05000000000000000000" pitchFamily="2" charset="2"/>
              <a:buChar char="Ø"/>
            </a:pPr>
            <a:r>
              <a:rPr lang="en-US" sz="2000" dirty="0" smtClean="0"/>
              <a:t>In </a:t>
            </a:r>
            <a:r>
              <a:rPr lang="en-US" sz="2000" dirty="0"/>
              <a:t>data set scalar is essentially a single </a:t>
            </a:r>
            <a:r>
              <a:rPr lang="en-US" sz="2000" dirty="0" smtClean="0"/>
              <a:t>element.</a:t>
            </a:r>
          </a:p>
          <a:p>
            <a:pPr marL="263525" lvl="2">
              <a:lnSpc>
                <a:spcPct val="150000"/>
              </a:lnSpc>
              <a:buFont typeface="Wingdings" panose="05000000000000000000" pitchFamily="2" charset="2"/>
              <a:buChar char="Ø"/>
            </a:pPr>
            <a:r>
              <a:rPr lang="en-US" sz="2000" b="1" dirty="0" smtClean="0"/>
              <a:t>Example</a:t>
            </a:r>
            <a:r>
              <a:rPr lang="en-US" sz="2000" b="1" dirty="0"/>
              <a:t>:</a:t>
            </a:r>
            <a:r>
              <a:rPr lang="en-US" sz="2000" dirty="0"/>
              <a:t> A single integer like 5 or a real number like 3.14.</a:t>
            </a:r>
          </a:p>
          <a:p>
            <a:endParaRPr lang="en-US" dirty="0"/>
          </a:p>
        </p:txBody>
      </p:sp>
      <p:pic>
        <p:nvPicPr>
          <p:cNvPr id="4" name="Picture 3"/>
          <p:cNvPicPr>
            <a:picLocks noChangeAspect="1"/>
          </p:cNvPicPr>
          <p:nvPr/>
        </p:nvPicPr>
        <p:blipFill>
          <a:blip r:embed="rId2"/>
          <a:stretch>
            <a:fillRect/>
          </a:stretch>
        </p:blipFill>
        <p:spPr>
          <a:xfrm>
            <a:off x="1551207" y="4509120"/>
            <a:ext cx="4464496" cy="1847378"/>
          </a:xfrm>
          <a:prstGeom prst="rect">
            <a:avLst/>
          </a:prstGeom>
        </p:spPr>
      </p:pic>
    </p:spTree>
    <p:extLst>
      <p:ext uri="{BB962C8B-B14F-4D97-AF65-F5344CB8AC3E}">
        <p14:creationId xmlns:p14="http://schemas.microsoft.com/office/powerpoint/2010/main" val="34138333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908720"/>
            <a:ext cx="8172400" cy="3785652"/>
          </a:xfrm>
          <a:prstGeom prst="rect">
            <a:avLst/>
          </a:prstGeom>
        </p:spPr>
        <p:txBody>
          <a:bodyPr wrap="square">
            <a:spAutoFit/>
          </a:bodyPr>
          <a:lstStyle/>
          <a:p>
            <a:pPr marL="360363" lvl="2" indent="-95250">
              <a:lnSpc>
                <a:spcPct val="150000"/>
              </a:lnSpc>
              <a:buFont typeface="Wingdings" panose="05000000000000000000" pitchFamily="2" charset="2"/>
              <a:buChar char="Ø"/>
            </a:pPr>
            <a:r>
              <a:rPr lang="en-US" sz="2000" dirty="0" smtClean="0"/>
              <a:t>A </a:t>
            </a:r>
            <a:r>
              <a:rPr lang="en-US" sz="2000" dirty="0"/>
              <a:t>vector is a one-dimensional array of numbers. </a:t>
            </a:r>
            <a:endParaRPr lang="en-US" sz="2000" dirty="0" smtClean="0"/>
          </a:p>
          <a:p>
            <a:pPr marL="360363" lvl="2" indent="-95250">
              <a:lnSpc>
                <a:spcPct val="150000"/>
              </a:lnSpc>
              <a:buFont typeface="Wingdings" panose="05000000000000000000" pitchFamily="2" charset="2"/>
              <a:buChar char="Ø"/>
            </a:pPr>
            <a:r>
              <a:rPr lang="en-US" sz="2000" dirty="0" smtClean="0"/>
              <a:t>It </a:t>
            </a:r>
            <a:r>
              <a:rPr lang="en-US" sz="2000" dirty="0"/>
              <a:t>is essentially a list of numbers and has one dimension (1-D tensor).</a:t>
            </a:r>
          </a:p>
          <a:p>
            <a:pPr marL="360363" lvl="2" indent="-95250">
              <a:lnSpc>
                <a:spcPct val="150000"/>
              </a:lnSpc>
              <a:buFont typeface="Wingdings" panose="05000000000000000000" pitchFamily="2" charset="2"/>
              <a:buChar char="Ø"/>
            </a:pPr>
            <a:r>
              <a:rPr lang="en-US" sz="2000" dirty="0"/>
              <a:t>In data set vector can be said as row vector </a:t>
            </a:r>
            <a:r>
              <a:rPr lang="en-US" sz="2000" dirty="0" smtClean="0"/>
              <a:t>for addressing a single row </a:t>
            </a:r>
            <a:r>
              <a:rPr lang="en-US" sz="2000" dirty="0" err="1" smtClean="0"/>
              <a:t>wrt</a:t>
            </a:r>
            <a:r>
              <a:rPr lang="en-US" sz="2000" dirty="0" smtClean="0"/>
              <a:t> all features .</a:t>
            </a:r>
          </a:p>
          <a:p>
            <a:pPr marL="360363" lvl="2" indent="-95250">
              <a:lnSpc>
                <a:spcPct val="150000"/>
              </a:lnSpc>
              <a:buFont typeface="Wingdings" panose="05000000000000000000" pitchFamily="2" charset="2"/>
              <a:buChar char="Ø"/>
            </a:pPr>
            <a:r>
              <a:rPr lang="en-US" sz="2000" dirty="0" smtClean="0"/>
              <a:t>A column </a:t>
            </a:r>
            <a:r>
              <a:rPr lang="en-US" sz="2000" dirty="0"/>
              <a:t>vector addressing all data points </a:t>
            </a:r>
            <a:r>
              <a:rPr lang="en-US" sz="2000" dirty="0" err="1"/>
              <a:t>wrt</a:t>
            </a:r>
            <a:r>
              <a:rPr lang="en-US" sz="2000" dirty="0"/>
              <a:t> a particular feature.</a:t>
            </a:r>
          </a:p>
          <a:p>
            <a:pPr marL="360363" lvl="2" indent="-95250">
              <a:lnSpc>
                <a:spcPct val="150000"/>
              </a:lnSpc>
              <a:buFont typeface="Wingdings" panose="05000000000000000000" pitchFamily="2" charset="2"/>
              <a:buChar char="Ø"/>
            </a:pPr>
            <a:r>
              <a:rPr lang="en-US" sz="2000" b="1" dirty="0"/>
              <a:t>Example:</a:t>
            </a:r>
            <a:r>
              <a:rPr lang="en-US" sz="2000" dirty="0"/>
              <a:t> [2,4,6] is a vector with 3 elements.</a:t>
            </a:r>
            <a:endParaRPr lang="en-US" dirty="0"/>
          </a:p>
        </p:txBody>
      </p:sp>
      <p:sp>
        <p:nvSpPr>
          <p:cNvPr id="3" name="Title 2"/>
          <p:cNvSpPr>
            <a:spLocks noGrp="1"/>
          </p:cNvSpPr>
          <p:nvPr>
            <p:ph type="title"/>
          </p:nvPr>
        </p:nvSpPr>
        <p:spPr>
          <a:xfrm>
            <a:off x="251520" y="237254"/>
            <a:ext cx="6347713" cy="515144"/>
          </a:xfrm>
        </p:spPr>
        <p:txBody>
          <a:bodyPr>
            <a:normAutofit fontScale="90000"/>
          </a:bodyPr>
          <a:lstStyle/>
          <a:p>
            <a:r>
              <a:rPr lang="en-US" b="1" dirty="0"/>
              <a:t>Vector (1-Dimensional Tensors): </a:t>
            </a:r>
            <a:r>
              <a:rPr lang="en-US" b="1" dirty="0" smtClean="0"/>
              <a:t> </a:t>
            </a:r>
            <a:r>
              <a:rPr lang="en-US" dirty="0"/>
              <a:t/>
            </a:r>
            <a:br>
              <a:rPr lang="en-US" dirty="0"/>
            </a:br>
            <a:endParaRPr lang="en-US" dirty="0"/>
          </a:p>
        </p:txBody>
      </p:sp>
      <p:pic>
        <p:nvPicPr>
          <p:cNvPr id="5" name="Picture 4"/>
          <p:cNvPicPr>
            <a:picLocks noChangeAspect="1"/>
          </p:cNvPicPr>
          <p:nvPr/>
        </p:nvPicPr>
        <p:blipFill>
          <a:blip r:embed="rId2"/>
          <a:stretch>
            <a:fillRect/>
          </a:stretch>
        </p:blipFill>
        <p:spPr>
          <a:xfrm>
            <a:off x="1403648" y="4838465"/>
            <a:ext cx="3419952" cy="2048161"/>
          </a:xfrm>
          <a:prstGeom prst="rect">
            <a:avLst/>
          </a:prstGeom>
        </p:spPr>
      </p:pic>
    </p:spTree>
    <p:extLst>
      <p:ext uri="{BB962C8B-B14F-4D97-AF65-F5344CB8AC3E}">
        <p14:creationId xmlns:p14="http://schemas.microsoft.com/office/powerpoint/2010/main" val="112925299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79512" y="260648"/>
            <a:ext cx="6963747" cy="1733792"/>
          </a:xfrm>
          <a:prstGeom prst="rect">
            <a:avLst/>
          </a:prstGeom>
        </p:spPr>
      </p:pic>
      <p:pic>
        <p:nvPicPr>
          <p:cNvPr id="5" name="Picture 4"/>
          <p:cNvPicPr>
            <a:picLocks noChangeAspect="1"/>
          </p:cNvPicPr>
          <p:nvPr/>
        </p:nvPicPr>
        <p:blipFill>
          <a:blip r:embed="rId3"/>
          <a:stretch>
            <a:fillRect/>
          </a:stretch>
        </p:blipFill>
        <p:spPr>
          <a:xfrm>
            <a:off x="323528" y="2348880"/>
            <a:ext cx="6239746" cy="4134427"/>
          </a:xfrm>
          <a:prstGeom prst="rect">
            <a:avLst/>
          </a:prstGeom>
        </p:spPr>
      </p:pic>
    </p:spTree>
    <p:extLst>
      <p:ext uri="{BB962C8B-B14F-4D97-AF65-F5344CB8AC3E}">
        <p14:creationId xmlns:p14="http://schemas.microsoft.com/office/powerpoint/2010/main" val="28478319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179512" y="1340768"/>
            <a:ext cx="7056784" cy="2160587"/>
          </a:xfrm>
        </p:spPr>
        <p:txBody>
          <a:bodyPr>
            <a:normAutofit/>
          </a:bodyPr>
          <a:lstStyle/>
          <a:p>
            <a:pPr marL="285750" lvl="1">
              <a:lnSpc>
                <a:spcPct val="150000"/>
              </a:lnSpc>
              <a:buFont typeface="Wingdings" panose="05000000000000000000" pitchFamily="2" charset="2"/>
              <a:buChar char="Ø"/>
            </a:pPr>
            <a:r>
              <a:rPr lang="en-US" sz="2000" dirty="0">
                <a:solidFill>
                  <a:schemeClr val="tx1"/>
                </a:solidFill>
              </a:rPr>
              <a:t>A matrix is a two-dimensional array of numbers. </a:t>
            </a:r>
          </a:p>
          <a:p>
            <a:pPr marL="285750" lvl="1">
              <a:lnSpc>
                <a:spcPct val="150000"/>
              </a:lnSpc>
              <a:buFont typeface="Wingdings" panose="05000000000000000000" pitchFamily="2" charset="2"/>
              <a:buChar char="Ø"/>
            </a:pPr>
            <a:r>
              <a:rPr lang="en-US" sz="2000" dirty="0">
                <a:solidFill>
                  <a:schemeClr val="tx1"/>
                </a:solidFill>
              </a:rPr>
              <a:t>It can be thought of as a table of numbers with rows and columns as DATAFRAME.</a:t>
            </a:r>
          </a:p>
          <a:p>
            <a:pPr marL="285750" lvl="1">
              <a:lnSpc>
                <a:spcPct val="150000"/>
              </a:lnSpc>
              <a:buFont typeface="Wingdings" panose="05000000000000000000" pitchFamily="2" charset="2"/>
              <a:buChar char="Ø"/>
            </a:pPr>
            <a:endParaRPr lang="en-US" dirty="0" smtClean="0"/>
          </a:p>
          <a:p>
            <a:pPr marL="285750" lvl="1">
              <a:lnSpc>
                <a:spcPct val="150000"/>
              </a:lnSpc>
              <a:buFont typeface="Wingdings" panose="05000000000000000000" pitchFamily="2" charset="2"/>
              <a:buChar char="Ø"/>
            </a:pPr>
            <a:endParaRPr lang="en-US" b="1" dirty="0" smtClean="0"/>
          </a:p>
          <a:p>
            <a:endParaRPr lang="en-US" b="1" dirty="0" smtClean="0"/>
          </a:p>
          <a:p>
            <a:endParaRPr lang="en-US" b="1" dirty="0"/>
          </a:p>
          <a:p>
            <a:pPr marL="393192" lvl="1" indent="0">
              <a:buNone/>
            </a:pPr>
            <a:endParaRPr lang="en-US" dirty="0"/>
          </a:p>
        </p:txBody>
      </p:sp>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61312" y="2999185"/>
            <a:ext cx="4867275" cy="10325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itle 2"/>
          <p:cNvSpPr>
            <a:spLocks noGrp="1"/>
          </p:cNvSpPr>
          <p:nvPr>
            <p:ph type="title"/>
          </p:nvPr>
        </p:nvSpPr>
        <p:spPr>
          <a:xfrm>
            <a:off x="323528" y="376705"/>
            <a:ext cx="7817692" cy="1224136"/>
          </a:xfrm>
        </p:spPr>
        <p:txBody>
          <a:bodyPr>
            <a:normAutofit/>
          </a:bodyPr>
          <a:lstStyle/>
          <a:p>
            <a:r>
              <a:rPr lang="en-US" b="1" dirty="0"/>
              <a:t>Matrix(2-Dimensional Tensors):</a:t>
            </a:r>
            <a:r>
              <a:rPr lang="en-US" dirty="0"/>
              <a:t/>
            </a:r>
            <a:br>
              <a:rPr lang="en-US" dirty="0"/>
            </a:br>
            <a:endParaRPr lang="en-US" dirty="0"/>
          </a:p>
        </p:txBody>
      </p:sp>
      <p:pic>
        <p:nvPicPr>
          <p:cNvPr id="6" name="Picture 5"/>
          <p:cNvPicPr>
            <a:picLocks noChangeAspect="1"/>
          </p:cNvPicPr>
          <p:nvPr/>
        </p:nvPicPr>
        <p:blipFill>
          <a:blip r:embed="rId3"/>
          <a:stretch>
            <a:fillRect/>
          </a:stretch>
        </p:blipFill>
        <p:spPr>
          <a:xfrm>
            <a:off x="549760" y="4455524"/>
            <a:ext cx="3648584" cy="2295845"/>
          </a:xfrm>
          <a:prstGeom prst="rect">
            <a:avLst/>
          </a:prstGeom>
        </p:spPr>
      </p:pic>
    </p:spTree>
    <p:extLst>
      <p:ext uri="{BB962C8B-B14F-4D97-AF65-F5344CB8AC3E}">
        <p14:creationId xmlns:p14="http://schemas.microsoft.com/office/powerpoint/2010/main" val="144163902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7545" y="116632"/>
            <a:ext cx="5344586" cy="20244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0369" y="4178597"/>
            <a:ext cx="5528074" cy="18426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0369" y="2276872"/>
            <a:ext cx="5400600" cy="17501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96209110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4"/>
          <p:cNvSpPr>
            <a:spLocks noGrp="1"/>
          </p:cNvSpPr>
          <p:nvPr>
            <p:ph type="title"/>
          </p:nvPr>
        </p:nvSpPr>
        <p:spPr>
          <a:xfrm>
            <a:off x="0" y="260648"/>
            <a:ext cx="8229600" cy="707886"/>
          </a:xfrm>
          <a:prstGeom prst="rect">
            <a:avLst/>
          </a:prstGeom>
        </p:spPr>
        <p:txBody>
          <a:bodyPr wrap="square">
            <a:spAutoFit/>
          </a:bodyPr>
          <a:lstStyle/>
          <a:p>
            <a:pPr algn="ctr"/>
            <a:r>
              <a:rPr lang="en-US" sz="4000" b="1" dirty="0"/>
              <a:t>Matrix Operations</a:t>
            </a:r>
          </a:p>
        </p:txBody>
      </p:sp>
      <p:sp>
        <p:nvSpPr>
          <p:cNvPr id="3" name="Content Placeholder 2"/>
          <p:cNvSpPr>
            <a:spLocks noGrp="1"/>
          </p:cNvSpPr>
          <p:nvPr>
            <p:ph idx="1"/>
          </p:nvPr>
        </p:nvSpPr>
        <p:spPr>
          <a:xfrm>
            <a:off x="323528" y="1268760"/>
            <a:ext cx="8229600" cy="5112568"/>
          </a:xfrm>
        </p:spPr>
        <p:txBody>
          <a:bodyPr>
            <a:normAutofit/>
          </a:bodyPr>
          <a:lstStyle/>
          <a:p>
            <a:pPr algn="just">
              <a:lnSpc>
                <a:spcPct val="150000"/>
              </a:lnSpc>
              <a:buFont typeface="Wingdings" panose="05000000000000000000" pitchFamily="2" charset="2"/>
              <a:buChar char="Ø"/>
            </a:pPr>
            <a:r>
              <a:rPr lang="en-US" sz="2000" b="1" dirty="0" smtClean="0"/>
              <a:t>Scalar addition and subtraction</a:t>
            </a:r>
          </a:p>
          <a:p>
            <a:pPr algn="just">
              <a:lnSpc>
                <a:spcPct val="150000"/>
              </a:lnSpc>
              <a:buFont typeface="Wingdings" panose="05000000000000000000" pitchFamily="2" charset="2"/>
              <a:buChar char="Ø"/>
            </a:pPr>
            <a:r>
              <a:rPr lang="en-US" sz="2000" b="1" dirty="0" smtClean="0"/>
              <a:t>Matrix </a:t>
            </a:r>
            <a:r>
              <a:rPr lang="en-US" sz="2000" b="1" dirty="0"/>
              <a:t>Addition and </a:t>
            </a:r>
            <a:r>
              <a:rPr lang="en-US" sz="2000" b="1" dirty="0" smtClean="0"/>
              <a:t>Subtraction</a:t>
            </a:r>
          </a:p>
          <a:p>
            <a:pPr algn="just">
              <a:lnSpc>
                <a:spcPct val="150000"/>
              </a:lnSpc>
              <a:buFont typeface="Wingdings" panose="05000000000000000000" pitchFamily="2" charset="2"/>
              <a:buChar char="Ø"/>
            </a:pPr>
            <a:r>
              <a:rPr lang="en-US" sz="2000" b="1" dirty="0"/>
              <a:t>Matrix </a:t>
            </a:r>
            <a:r>
              <a:rPr lang="en-US" sz="2000" b="1" dirty="0" smtClean="0"/>
              <a:t>Multiplication</a:t>
            </a:r>
          </a:p>
          <a:p>
            <a:pPr algn="just">
              <a:lnSpc>
                <a:spcPct val="160000"/>
              </a:lnSpc>
              <a:buFont typeface="Wingdings" panose="05000000000000000000" pitchFamily="2" charset="2"/>
              <a:buChar char="Ø"/>
            </a:pPr>
            <a:r>
              <a:rPr lang="en-US" sz="2000" b="1" dirty="0"/>
              <a:t>Dot Product</a:t>
            </a:r>
          </a:p>
          <a:p>
            <a:pPr algn="just">
              <a:lnSpc>
                <a:spcPct val="150000"/>
              </a:lnSpc>
              <a:buFont typeface="Wingdings" panose="05000000000000000000" pitchFamily="2" charset="2"/>
              <a:buChar char="Ø"/>
            </a:pPr>
            <a:r>
              <a:rPr lang="en-US" sz="2000" b="1" dirty="0" smtClean="0"/>
              <a:t>Matrix Transpose</a:t>
            </a:r>
          </a:p>
        </p:txBody>
      </p:sp>
    </p:spTree>
    <p:extLst>
      <p:ext uri="{BB962C8B-B14F-4D97-AF65-F5344CB8AC3E}">
        <p14:creationId xmlns:p14="http://schemas.microsoft.com/office/powerpoint/2010/main" val="251789628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7504" y="332656"/>
            <a:ext cx="8229600" cy="852704"/>
          </a:xfrm>
        </p:spPr>
        <p:txBody>
          <a:bodyPr>
            <a:normAutofit/>
          </a:bodyPr>
          <a:lstStyle/>
          <a:p>
            <a:r>
              <a:rPr lang="en-US" sz="3600" b="1" dirty="0"/>
              <a:t>Scalar </a:t>
            </a:r>
            <a:r>
              <a:rPr lang="en-US" sz="3600" b="1" dirty="0" smtClean="0"/>
              <a:t>Addition</a:t>
            </a:r>
            <a:endParaRPr lang="en-US" sz="3600" dirty="0"/>
          </a:p>
        </p:txBody>
      </p:sp>
      <p:sp>
        <p:nvSpPr>
          <p:cNvPr id="3" name="Content Placeholder 2"/>
          <p:cNvSpPr>
            <a:spLocks noGrp="1"/>
          </p:cNvSpPr>
          <p:nvPr>
            <p:ph idx="1"/>
          </p:nvPr>
        </p:nvSpPr>
        <p:spPr>
          <a:xfrm>
            <a:off x="107504" y="1170570"/>
            <a:ext cx="7266508" cy="1206928"/>
          </a:xfrm>
        </p:spPr>
        <p:txBody>
          <a:bodyPr>
            <a:normAutofit fontScale="85000" lnSpcReduction="10000"/>
          </a:bodyPr>
          <a:lstStyle/>
          <a:p>
            <a:pPr>
              <a:lnSpc>
                <a:spcPct val="150000"/>
              </a:lnSpc>
              <a:buFont typeface="Wingdings" panose="05000000000000000000" pitchFamily="2" charset="2"/>
              <a:buChar char="Ø"/>
            </a:pPr>
            <a:r>
              <a:rPr lang="en-US" sz="2000" dirty="0"/>
              <a:t>Scalar addition </a:t>
            </a:r>
            <a:r>
              <a:rPr lang="en-US" sz="2000" dirty="0" smtClean="0"/>
              <a:t>refer </a:t>
            </a:r>
            <a:r>
              <a:rPr lang="en-US" sz="2000" dirty="0"/>
              <a:t>to the operation of adding </a:t>
            </a:r>
            <a:r>
              <a:rPr lang="en-US" sz="2000" dirty="0" smtClean="0"/>
              <a:t>a </a:t>
            </a:r>
            <a:r>
              <a:rPr lang="en-US" sz="2000" dirty="0"/>
              <a:t>scalar (a single numerical value) to every element of a matrix or vector. </a:t>
            </a:r>
          </a:p>
        </p:txBody>
      </p:sp>
      <p:pic>
        <p:nvPicPr>
          <p:cNvPr id="5" name="Picture 4"/>
          <p:cNvPicPr>
            <a:picLocks noChangeAspect="1"/>
          </p:cNvPicPr>
          <p:nvPr/>
        </p:nvPicPr>
        <p:blipFill>
          <a:blip r:embed="rId2"/>
          <a:stretch>
            <a:fillRect/>
          </a:stretch>
        </p:blipFill>
        <p:spPr>
          <a:xfrm>
            <a:off x="759017" y="2492896"/>
            <a:ext cx="5963482" cy="2476846"/>
          </a:xfrm>
          <a:prstGeom prst="rect">
            <a:avLst/>
          </a:prstGeom>
        </p:spPr>
      </p:pic>
    </p:spTree>
    <p:extLst>
      <p:ext uri="{BB962C8B-B14F-4D97-AF65-F5344CB8AC3E}">
        <p14:creationId xmlns:p14="http://schemas.microsoft.com/office/powerpoint/2010/main" val="285989525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332656"/>
            <a:ext cx="3816424" cy="564672"/>
          </a:xfrm>
        </p:spPr>
        <p:txBody>
          <a:bodyPr>
            <a:normAutofit fontScale="90000"/>
          </a:bodyPr>
          <a:lstStyle/>
          <a:p>
            <a:r>
              <a:rPr lang="en-US" sz="3600" b="1" dirty="0"/>
              <a:t>Scalar Subtraction</a:t>
            </a:r>
          </a:p>
        </p:txBody>
      </p:sp>
      <p:sp>
        <p:nvSpPr>
          <p:cNvPr id="3" name="Content Placeholder 2"/>
          <p:cNvSpPr>
            <a:spLocks noGrp="1"/>
          </p:cNvSpPr>
          <p:nvPr>
            <p:ph idx="1"/>
          </p:nvPr>
        </p:nvSpPr>
        <p:spPr>
          <a:xfrm>
            <a:off x="107504" y="1196752"/>
            <a:ext cx="7560840" cy="3168352"/>
          </a:xfrm>
        </p:spPr>
        <p:txBody>
          <a:bodyPr>
            <a:normAutofit/>
          </a:bodyPr>
          <a:lstStyle/>
          <a:p>
            <a:pPr>
              <a:lnSpc>
                <a:spcPct val="160000"/>
              </a:lnSpc>
              <a:buFont typeface="Wingdings" panose="05000000000000000000" pitchFamily="2" charset="2"/>
              <a:buChar char="Ø"/>
            </a:pPr>
            <a:r>
              <a:rPr lang="en-US" sz="2000" dirty="0" smtClean="0"/>
              <a:t>In scalar subtraction, the </a:t>
            </a:r>
            <a:r>
              <a:rPr lang="en-US" sz="2000" dirty="0"/>
              <a:t>scalar value is subtracted from each element of the matrix or vector</a:t>
            </a:r>
            <a:r>
              <a:rPr lang="en-US" sz="2000" dirty="0" smtClean="0"/>
              <a:t>.</a:t>
            </a:r>
          </a:p>
          <a:p>
            <a:pPr>
              <a:lnSpc>
                <a:spcPct val="160000"/>
              </a:lnSpc>
              <a:buFont typeface="Wingdings" panose="05000000000000000000" pitchFamily="2" charset="2"/>
              <a:buChar char="Ø"/>
            </a:pPr>
            <a:r>
              <a:rPr lang="en-US" sz="2000" b="1" dirty="0" smtClean="0"/>
              <a:t>Example: </a:t>
            </a:r>
            <a:r>
              <a:rPr lang="en-US" sz="2000" dirty="0" smtClean="0"/>
              <a:t>Scalar </a:t>
            </a:r>
            <a:r>
              <a:rPr lang="en-US" sz="2000" dirty="0"/>
              <a:t>subtraction is often used in mean centering, where the mean of a dataset (a scalar) is subtracted from each data point to center the data around zero.</a:t>
            </a:r>
          </a:p>
        </p:txBody>
      </p:sp>
      <p:pic>
        <p:nvPicPr>
          <p:cNvPr id="4" name="Picture 3"/>
          <p:cNvPicPr>
            <a:picLocks noChangeAspect="1"/>
          </p:cNvPicPr>
          <p:nvPr/>
        </p:nvPicPr>
        <p:blipFill>
          <a:blip r:embed="rId2"/>
          <a:stretch>
            <a:fillRect/>
          </a:stretch>
        </p:blipFill>
        <p:spPr>
          <a:xfrm>
            <a:off x="611560" y="4636325"/>
            <a:ext cx="6134956" cy="1438476"/>
          </a:xfrm>
          <a:prstGeom prst="rect">
            <a:avLst/>
          </a:prstGeom>
        </p:spPr>
      </p:pic>
    </p:spTree>
    <p:extLst>
      <p:ext uri="{BB962C8B-B14F-4D97-AF65-F5344CB8AC3E}">
        <p14:creationId xmlns:p14="http://schemas.microsoft.com/office/powerpoint/2010/main" val="125155777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7504" y="194336"/>
            <a:ext cx="3456384" cy="636680"/>
          </a:xfrm>
        </p:spPr>
        <p:txBody>
          <a:bodyPr>
            <a:normAutofit fontScale="90000"/>
          </a:bodyPr>
          <a:lstStyle/>
          <a:p>
            <a:r>
              <a:rPr lang="en-US" sz="3600" b="1" dirty="0" smtClean="0"/>
              <a:t>Mean Centering</a:t>
            </a:r>
            <a:endParaRPr lang="en-US" sz="3600" b="1" dirty="0"/>
          </a:p>
        </p:txBody>
      </p:sp>
      <p:sp>
        <p:nvSpPr>
          <p:cNvPr id="3" name="Content Placeholder 2"/>
          <p:cNvSpPr>
            <a:spLocks noGrp="1"/>
          </p:cNvSpPr>
          <p:nvPr>
            <p:ph idx="1"/>
          </p:nvPr>
        </p:nvSpPr>
        <p:spPr>
          <a:xfrm>
            <a:off x="-72516" y="944390"/>
            <a:ext cx="7272808" cy="2304256"/>
          </a:xfrm>
        </p:spPr>
        <p:txBody>
          <a:bodyPr>
            <a:normAutofit fontScale="92500" lnSpcReduction="10000"/>
          </a:bodyPr>
          <a:lstStyle/>
          <a:p>
            <a:pPr>
              <a:lnSpc>
                <a:spcPct val="150000"/>
              </a:lnSpc>
              <a:buFont typeface="Wingdings" panose="05000000000000000000" pitchFamily="2" charset="2"/>
              <a:buChar char="Ø"/>
            </a:pPr>
            <a:r>
              <a:rPr lang="en-US" sz="2000" b="1" dirty="0"/>
              <a:t>Mean centering</a:t>
            </a:r>
            <a:r>
              <a:rPr lang="en-US" sz="2000" dirty="0"/>
              <a:t> is a preprocessing technique used in data science to modify the features of a dataset by subtracting the mean of each feature from the data points. </a:t>
            </a:r>
            <a:endParaRPr lang="en-US" sz="2000" dirty="0" smtClean="0"/>
          </a:p>
          <a:p>
            <a:pPr>
              <a:lnSpc>
                <a:spcPct val="150000"/>
              </a:lnSpc>
              <a:buFont typeface="Wingdings" panose="05000000000000000000" pitchFamily="2" charset="2"/>
              <a:buChar char="Ø"/>
            </a:pPr>
            <a:r>
              <a:rPr lang="en-US" sz="2000" dirty="0" smtClean="0"/>
              <a:t>This </a:t>
            </a:r>
            <a:r>
              <a:rPr lang="en-US" sz="2000" dirty="0"/>
              <a:t>results in the transformed features having a mean of zero. </a:t>
            </a:r>
            <a:endParaRPr lang="en-US" sz="2000" dirty="0" smtClean="0"/>
          </a:p>
          <a:p>
            <a:pPr>
              <a:lnSpc>
                <a:spcPct val="150000"/>
              </a:lnSpc>
              <a:buFont typeface="Wingdings" panose="05000000000000000000" pitchFamily="2" charset="2"/>
              <a:buChar char="Ø"/>
            </a:pPr>
            <a:endParaRPr lang="en-US" sz="2000" dirty="0"/>
          </a:p>
        </p:txBody>
      </p:sp>
      <p:pic>
        <p:nvPicPr>
          <p:cNvPr id="5" name="Picture 4"/>
          <p:cNvPicPr>
            <a:picLocks noChangeAspect="1"/>
          </p:cNvPicPr>
          <p:nvPr/>
        </p:nvPicPr>
        <p:blipFill>
          <a:blip r:embed="rId2"/>
          <a:stretch>
            <a:fillRect/>
          </a:stretch>
        </p:blipFill>
        <p:spPr>
          <a:xfrm>
            <a:off x="611560" y="3362020"/>
            <a:ext cx="6430272" cy="2238687"/>
          </a:xfrm>
          <a:prstGeom prst="rect">
            <a:avLst/>
          </a:prstGeom>
        </p:spPr>
      </p:pic>
    </p:spTree>
    <p:extLst>
      <p:ext uri="{BB962C8B-B14F-4D97-AF65-F5344CB8AC3E}">
        <p14:creationId xmlns:p14="http://schemas.microsoft.com/office/powerpoint/2010/main" val="187451685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stretch>
            <a:fillRect/>
          </a:stretch>
        </p:blipFill>
        <p:spPr>
          <a:xfrm>
            <a:off x="179512" y="404664"/>
            <a:ext cx="3096344" cy="2441459"/>
          </a:xfrm>
          <a:prstGeom prst="rect">
            <a:avLst/>
          </a:prstGeom>
        </p:spPr>
      </p:pic>
      <p:pic>
        <p:nvPicPr>
          <p:cNvPr id="6" name="Picture 5"/>
          <p:cNvPicPr>
            <a:picLocks noChangeAspect="1"/>
          </p:cNvPicPr>
          <p:nvPr/>
        </p:nvPicPr>
        <p:blipFill>
          <a:blip r:embed="rId3"/>
          <a:stretch>
            <a:fillRect/>
          </a:stretch>
        </p:blipFill>
        <p:spPr>
          <a:xfrm>
            <a:off x="3995936" y="404664"/>
            <a:ext cx="2808312" cy="2402851"/>
          </a:xfrm>
          <a:prstGeom prst="rect">
            <a:avLst/>
          </a:prstGeom>
        </p:spPr>
      </p:pic>
      <p:pic>
        <p:nvPicPr>
          <p:cNvPr id="7" name="Picture 6"/>
          <p:cNvPicPr>
            <a:picLocks noChangeAspect="1"/>
          </p:cNvPicPr>
          <p:nvPr/>
        </p:nvPicPr>
        <p:blipFill>
          <a:blip r:embed="rId4"/>
          <a:stretch>
            <a:fillRect/>
          </a:stretch>
        </p:blipFill>
        <p:spPr>
          <a:xfrm>
            <a:off x="583555" y="3356992"/>
            <a:ext cx="6220693" cy="2476846"/>
          </a:xfrm>
          <a:prstGeom prst="rect">
            <a:avLst/>
          </a:prstGeom>
        </p:spPr>
      </p:pic>
    </p:spTree>
    <p:extLst>
      <p:ext uri="{BB962C8B-B14F-4D97-AF65-F5344CB8AC3E}">
        <p14:creationId xmlns:p14="http://schemas.microsoft.com/office/powerpoint/2010/main" val="143470235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88640"/>
            <a:ext cx="6669335" cy="780696"/>
          </a:xfrm>
        </p:spPr>
        <p:txBody>
          <a:bodyPr>
            <a:normAutofit/>
          </a:bodyPr>
          <a:lstStyle/>
          <a:p>
            <a:pPr algn="ctr"/>
            <a:r>
              <a:rPr lang="en-US" sz="3600" b="1" dirty="0"/>
              <a:t>Matrix </a:t>
            </a:r>
            <a:r>
              <a:rPr lang="en-US" sz="3600" b="1" dirty="0" smtClean="0"/>
              <a:t>Addition</a:t>
            </a:r>
            <a:endParaRPr lang="en-US" sz="3600" b="1" dirty="0"/>
          </a:p>
        </p:txBody>
      </p:sp>
      <p:sp>
        <p:nvSpPr>
          <p:cNvPr id="4" name="Rectangle 1"/>
          <p:cNvSpPr>
            <a:spLocks noGrp="1" noChangeArrowheads="1"/>
          </p:cNvSpPr>
          <p:nvPr>
            <p:ph idx="1"/>
          </p:nvPr>
        </p:nvSpPr>
        <p:spPr bwMode="auto">
          <a:xfrm>
            <a:off x="107504" y="1196752"/>
            <a:ext cx="7355879" cy="16158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lnSpc>
                <a:spcPct val="150000"/>
              </a:lnSpc>
              <a:spcBef>
                <a:spcPct val="0"/>
              </a:spcBef>
              <a:spcAft>
                <a:spcPct val="0"/>
              </a:spcAft>
              <a:buClrTx/>
              <a:buSzTx/>
              <a:buFont typeface="Wingdings" panose="05000000000000000000" pitchFamily="2" charset="2"/>
              <a:buChar char="Ø"/>
            </a:pPr>
            <a:r>
              <a:rPr kumimoji="0" lang="en-US" altLang="en-US" sz="1800" b="1" i="0" u="none" strike="noStrike" cap="none" normalizeH="0" baseline="0" dirty="0" smtClean="0">
                <a:ln>
                  <a:noFill/>
                </a:ln>
                <a:solidFill>
                  <a:schemeClr val="tx1"/>
                </a:solidFill>
                <a:effectLst/>
                <a:latin typeface="Arial" panose="020B0604020202020204" pitchFamily="34" charset="0"/>
              </a:rPr>
              <a:t>Definition</a:t>
            </a:r>
            <a:r>
              <a:rPr kumimoji="0" lang="en-US" altLang="en-US" sz="1800" b="0" i="0" u="none" strike="noStrike" cap="none" normalizeH="0" baseline="0" dirty="0" smtClean="0">
                <a:ln>
                  <a:noFill/>
                </a:ln>
                <a:solidFill>
                  <a:schemeClr val="tx1"/>
                </a:solidFill>
                <a:effectLst/>
                <a:latin typeface="Arial" panose="020B0604020202020204" pitchFamily="34" charset="0"/>
              </a:rPr>
              <a:t>: Given two matrices A and B of the same dimensions, their sum C is obtained by adding corresponding elements.</a:t>
            </a:r>
          </a:p>
          <a:p>
            <a:pPr marL="0" marR="0" lvl="0" indent="0" algn="ctr"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err="1" smtClean="0">
                <a:ln>
                  <a:noFill/>
                </a:ln>
                <a:solidFill>
                  <a:schemeClr val="tx1"/>
                </a:solidFill>
                <a:effectLst/>
                <a:latin typeface="Arial" panose="020B0604020202020204" pitchFamily="34" charset="0"/>
              </a:rPr>
              <a:t>Cij</a:t>
            </a:r>
            <a:r>
              <a:rPr kumimoji="0" lang="en-US" altLang="en-US" sz="1800" b="0" i="0" u="none" strike="noStrike" cap="none" normalizeH="0" baseline="0" dirty="0" smtClean="0">
                <a:ln>
                  <a:noFill/>
                </a:ln>
                <a:solidFill>
                  <a:schemeClr val="tx1"/>
                </a:solidFill>
                <a:effectLst/>
                <a:latin typeface="Arial" panose="020B0604020202020204" pitchFamily="34" charset="0"/>
              </a:rPr>
              <a:t> = </a:t>
            </a:r>
            <a:r>
              <a:rPr kumimoji="0" lang="en-US" altLang="en-US" sz="1800" b="0" i="0" u="none" strike="noStrike" cap="none" normalizeH="0" baseline="0" dirty="0" err="1" smtClean="0">
                <a:ln>
                  <a:noFill/>
                </a:ln>
                <a:solidFill>
                  <a:schemeClr val="tx1"/>
                </a:solidFill>
                <a:effectLst/>
                <a:latin typeface="Arial" panose="020B0604020202020204" pitchFamily="34" charset="0"/>
              </a:rPr>
              <a:t>Aij</a:t>
            </a:r>
            <a:r>
              <a:rPr kumimoji="0" lang="en-US" altLang="en-US" sz="1800" b="0" i="0" u="none" strike="noStrike" cap="none" normalizeH="0" baseline="0" dirty="0" smtClean="0">
                <a:ln>
                  <a:noFill/>
                </a:ln>
                <a:solidFill>
                  <a:schemeClr val="tx1"/>
                </a:solidFill>
                <a:effectLst/>
                <a:latin typeface="Arial" panose="020B0604020202020204" pitchFamily="34" charset="0"/>
              </a:rPr>
              <a:t> + </a:t>
            </a:r>
            <a:r>
              <a:rPr kumimoji="0" lang="en-US" altLang="en-US" sz="1800" b="0" i="0" u="none" strike="noStrike" cap="none" normalizeH="0" baseline="0" dirty="0" err="1" smtClean="0">
                <a:ln>
                  <a:noFill/>
                </a:ln>
                <a:solidFill>
                  <a:schemeClr val="tx1"/>
                </a:solidFill>
                <a:effectLst/>
                <a:latin typeface="Arial" panose="020B0604020202020204" pitchFamily="34" charset="0"/>
              </a:rPr>
              <a:t>Bij</a:t>
            </a: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pic>
        <p:nvPicPr>
          <p:cNvPr id="5" name="Picture 4"/>
          <p:cNvPicPr>
            <a:picLocks noChangeAspect="1"/>
          </p:cNvPicPr>
          <p:nvPr/>
        </p:nvPicPr>
        <p:blipFill>
          <a:blip r:embed="rId2"/>
          <a:stretch>
            <a:fillRect/>
          </a:stretch>
        </p:blipFill>
        <p:spPr>
          <a:xfrm>
            <a:off x="323528" y="2996952"/>
            <a:ext cx="5792008" cy="2105319"/>
          </a:xfrm>
          <a:prstGeom prst="rect">
            <a:avLst/>
          </a:prstGeom>
        </p:spPr>
      </p:pic>
    </p:spTree>
    <p:extLst>
      <p:ext uri="{BB962C8B-B14F-4D97-AF65-F5344CB8AC3E}">
        <p14:creationId xmlns:p14="http://schemas.microsoft.com/office/powerpoint/2010/main" val="85775296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116632"/>
            <a:ext cx="4295750" cy="627433"/>
          </a:xfrm>
        </p:spPr>
        <p:txBody>
          <a:bodyPr>
            <a:normAutofit fontScale="90000"/>
          </a:bodyPr>
          <a:lstStyle/>
          <a:p>
            <a:pPr algn="ctr"/>
            <a:r>
              <a:rPr lang="en-US" sz="3600" b="1" dirty="0"/>
              <a:t>Matrix Multiplication</a:t>
            </a:r>
            <a:r>
              <a:rPr lang="en-US" sz="3600" dirty="0"/>
              <a:t>:</a:t>
            </a:r>
          </a:p>
        </p:txBody>
      </p:sp>
      <p:pic>
        <p:nvPicPr>
          <p:cNvPr id="6" name="Picture 5"/>
          <p:cNvPicPr>
            <a:picLocks noChangeAspect="1"/>
          </p:cNvPicPr>
          <p:nvPr/>
        </p:nvPicPr>
        <p:blipFill>
          <a:blip r:embed="rId2"/>
          <a:stretch>
            <a:fillRect/>
          </a:stretch>
        </p:blipFill>
        <p:spPr>
          <a:xfrm>
            <a:off x="323528" y="1124744"/>
            <a:ext cx="7083235" cy="4104456"/>
          </a:xfrm>
          <a:prstGeom prst="rect">
            <a:avLst/>
          </a:prstGeom>
        </p:spPr>
      </p:pic>
    </p:spTree>
    <p:extLst>
      <p:ext uri="{BB962C8B-B14F-4D97-AF65-F5344CB8AC3E}">
        <p14:creationId xmlns:p14="http://schemas.microsoft.com/office/powerpoint/2010/main" val="318622892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510" y="116632"/>
            <a:ext cx="4325466" cy="852704"/>
          </a:xfrm>
        </p:spPr>
        <p:txBody>
          <a:bodyPr>
            <a:normAutofit/>
          </a:bodyPr>
          <a:lstStyle/>
          <a:p>
            <a:pPr algn="ctr"/>
            <a:r>
              <a:rPr lang="en-US" sz="4000" b="1" dirty="0"/>
              <a:t>Matrix Transpose</a:t>
            </a:r>
          </a:p>
        </p:txBody>
      </p:sp>
      <p:pic>
        <p:nvPicPr>
          <p:cNvPr id="5" name="Picture 4"/>
          <p:cNvPicPr>
            <a:picLocks noChangeAspect="1"/>
          </p:cNvPicPr>
          <p:nvPr/>
        </p:nvPicPr>
        <p:blipFill>
          <a:blip r:embed="rId2"/>
          <a:stretch>
            <a:fillRect/>
          </a:stretch>
        </p:blipFill>
        <p:spPr>
          <a:xfrm>
            <a:off x="251520" y="1052737"/>
            <a:ext cx="7128792" cy="4248472"/>
          </a:xfrm>
          <a:prstGeom prst="rect">
            <a:avLst/>
          </a:prstGeom>
        </p:spPr>
      </p:pic>
      <p:pic>
        <p:nvPicPr>
          <p:cNvPr id="3" name="Picture 2"/>
          <p:cNvPicPr>
            <a:picLocks noChangeAspect="1"/>
          </p:cNvPicPr>
          <p:nvPr/>
        </p:nvPicPr>
        <p:blipFill>
          <a:blip r:embed="rId3"/>
          <a:stretch>
            <a:fillRect/>
          </a:stretch>
        </p:blipFill>
        <p:spPr>
          <a:xfrm>
            <a:off x="611560" y="4869160"/>
            <a:ext cx="1781424" cy="1848108"/>
          </a:xfrm>
          <a:prstGeom prst="rect">
            <a:avLst/>
          </a:prstGeom>
        </p:spPr>
      </p:pic>
    </p:spTree>
    <p:extLst>
      <p:ext uri="{BB962C8B-B14F-4D97-AF65-F5344CB8AC3E}">
        <p14:creationId xmlns:p14="http://schemas.microsoft.com/office/powerpoint/2010/main" val="277435440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7504" y="35471"/>
            <a:ext cx="3250704" cy="780696"/>
          </a:xfrm>
        </p:spPr>
        <p:txBody>
          <a:bodyPr>
            <a:normAutofit/>
          </a:bodyPr>
          <a:lstStyle/>
          <a:p>
            <a:pPr algn="ctr"/>
            <a:r>
              <a:rPr lang="en-US" sz="4000" b="1" dirty="0"/>
              <a:t>Dot </a:t>
            </a:r>
            <a:r>
              <a:rPr lang="en-US" sz="4000" b="1" dirty="0" smtClean="0"/>
              <a:t>Product</a:t>
            </a:r>
            <a:endParaRPr lang="en-US" sz="4000" dirty="0"/>
          </a:p>
        </p:txBody>
      </p:sp>
      <p:pic>
        <p:nvPicPr>
          <p:cNvPr id="7" name="Picture 6"/>
          <p:cNvPicPr>
            <a:picLocks noChangeAspect="1"/>
          </p:cNvPicPr>
          <p:nvPr/>
        </p:nvPicPr>
        <p:blipFill>
          <a:blip r:embed="rId3"/>
          <a:stretch>
            <a:fillRect/>
          </a:stretch>
        </p:blipFill>
        <p:spPr>
          <a:xfrm>
            <a:off x="452236" y="3449545"/>
            <a:ext cx="5172797" cy="1562318"/>
          </a:xfrm>
          <a:prstGeom prst="rect">
            <a:avLst/>
          </a:prstGeom>
        </p:spPr>
      </p:pic>
      <p:pic>
        <p:nvPicPr>
          <p:cNvPr id="8" name="Picture 7"/>
          <p:cNvPicPr>
            <a:picLocks noChangeAspect="1"/>
          </p:cNvPicPr>
          <p:nvPr/>
        </p:nvPicPr>
        <p:blipFill>
          <a:blip r:embed="rId4"/>
          <a:stretch>
            <a:fillRect/>
          </a:stretch>
        </p:blipFill>
        <p:spPr>
          <a:xfrm>
            <a:off x="72455" y="1052736"/>
            <a:ext cx="7267228" cy="2160240"/>
          </a:xfrm>
          <a:prstGeom prst="rect">
            <a:avLst/>
          </a:prstGeom>
        </p:spPr>
      </p:pic>
      <p:pic>
        <p:nvPicPr>
          <p:cNvPr id="3" name="Picture 2"/>
          <p:cNvPicPr>
            <a:picLocks noChangeAspect="1"/>
          </p:cNvPicPr>
          <p:nvPr/>
        </p:nvPicPr>
        <p:blipFill>
          <a:blip r:embed="rId5"/>
          <a:stretch>
            <a:fillRect/>
          </a:stretch>
        </p:blipFill>
        <p:spPr>
          <a:xfrm>
            <a:off x="1305479" y="5301208"/>
            <a:ext cx="4382112" cy="990738"/>
          </a:xfrm>
          <a:prstGeom prst="rect">
            <a:avLst/>
          </a:prstGeom>
        </p:spPr>
      </p:pic>
    </p:spTree>
    <p:extLst>
      <p:ext uri="{BB962C8B-B14F-4D97-AF65-F5344CB8AC3E}">
        <p14:creationId xmlns:p14="http://schemas.microsoft.com/office/powerpoint/2010/main" val="223987344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395536" y="404664"/>
            <a:ext cx="3744416" cy="2973178"/>
          </a:xfrm>
          <a:prstGeom prst="rect">
            <a:avLst/>
          </a:prstGeom>
        </p:spPr>
      </p:pic>
      <p:pic>
        <p:nvPicPr>
          <p:cNvPr id="2" name="Picture 1"/>
          <p:cNvPicPr>
            <a:picLocks noChangeAspect="1"/>
          </p:cNvPicPr>
          <p:nvPr/>
        </p:nvPicPr>
        <p:blipFill>
          <a:blip r:embed="rId3"/>
          <a:stretch>
            <a:fillRect/>
          </a:stretch>
        </p:blipFill>
        <p:spPr>
          <a:xfrm>
            <a:off x="2987824" y="3212976"/>
            <a:ext cx="3686755" cy="3163129"/>
          </a:xfrm>
          <a:prstGeom prst="rect">
            <a:avLst/>
          </a:prstGeom>
        </p:spPr>
      </p:pic>
    </p:spTree>
    <p:extLst>
      <p:ext uri="{BB962C8B-B14F-4D97-AF65-F5344CB8AC3E}">
        <p14:creationId xmlns:p14="http://schemas.microsoft.com/office/powerpoint/2010/main" val="33948800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539552" y="404664"/>
            <a:ext cx="6048672" cy="4995420"/>
          </a:xfrm>
          <a:prstGeom prst="rect">
            <a:avLst/>
          </a:prstGeom>
        </p:spPr>
      </p:pic>
    </p:spTree>
    <p:extLst>
      <p:ext uri="{BB962C8B-B14F-4D97-AF65-F5344CB8AC3E}">
        <p14:creationId xmlns:p14="http://schemas.microsoft.com/office/powerpoint/2010/main" val="199780969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1520" y="188640"/>
            <a:ext cx="3960440" cy="720080"/>
          </a:xfrm>
        </p:spPr>
        <p:txBody>
          <a:bodyPr>
            <a:normAutofit fontScale="90000"/>
          </a:bodyPr>
          <a:lstStyle/>
          <a:p>
            <a:pPr algn="ctr"/>
            <a:r>
              <a:rPr lang="en-US" sz="3600" b="1" dirty="0" smtClean="0"/>
              <a:t>Norms(L1 and L2) </a:t>
            </a:r>
            <a:endParaRPr lang="en-US" sz="3600" b="1" dirty="0"/>
          </a:p>
        </p:txBody>
      </p:sp>
      <p:sp>
        <p:nvSpPr>
          <p:cNvPr id="4" name="Rectangle 3"/>
          <p:cNvSpPr/>
          <p:nvPr/>
        </p:nvSpPr>
        <p:spPr>
          <a:xfrm>
            <a:off x="107504" y="1412776"/>
            <a:ext cx="7560840" cy="3528392"/>
          </a:xfrm>
          <a:prstGeom prst="rect">
            <a:avLst/>
          </a:prstGeom>
        </p:spPr>
        <p:txBody>
          <a:bodyPr wrap="square">
            <a:spAutoFit/>
          </a:bodyPr>
          <a:lstStyle/>
          <a:p>
            <a:pPr marL="285750" indent="-285750">
              <a:lnSpc>
                <a:spcPct val="150000"/>
              </a:lnSpc>
              <a:buFont typeface="Wingdings" panose="05000000000000000000" pitchFamily="2" charset="2"/>
              <a:buChar char="Ø"/>
            </a:pPr>
            <a:r>
              <a:rPr lang="en-US" dirty="0"/>
              <a:t>Norms are functions that measure </a:t>
            </a:r>
            <a:r>
              <a:rPr lang="en-US" b="1" dirty="0"/>
              <a:t>the size or length of a vector </a:t>
            </a:r>
            <a:r>
              <a:rPr lang="en-US" dirty="0"/>
              <a:t>in a vector space. </a:t>
            </a:r>
          </a:p>
          <a:p>
            <a:pPr marL="285750" indent="-285750">
              <a:lnSpc>
                <a:spcPct val="150000"/>
              </a:lnSpc>
              <a:buFont typeface="Wingdings" panose="05000000000000000000" pitchFamily="2" charset="2"/>
              <a:buChar char="Ø"/>
            </a:pPr>
            <a:r>
              <a:rPr lang="en-US" dirty="0"/>
              <a:t>In data science, norms are often used to quantify the magnitude of vectors, such as weight vectors in machine learning models, or to measure the error or difference between predicted and actual values.</a:t>
            </a:r>
          </a:p>
          <a:p>
            <a:pPr marL="285750" indent="-285750">
              <a:lnSpc>
                <a:spcPct val="150000"/>
              </a:lnSpc>
              <a:buFont typeface="Wingdings" panose="05000000000000000000" pitchFamily="2" charset="2"/>
              <a:buChar char="Ø"/>
            </a:pPr>
            <a:r>
              <a:rPr lang="en-US" b="1" dirty="0"/>
              <a:t>L1 Norm (Manhattan Distance)</a:t>
            </a:r>
          </a:p>
          <a:p>
            <a:pPr marL="285750" indent="-285750">
              <a:lnSpc>
                <a:spcPct val="150000"/>
              </a:lnSpc>
              <a:buFont typeface="Wingdings" panose="05000000000000000000" pitchFamily="2" charset="2"/>
              <a:buChar char="Ø"/>
            </a:pPr>
            <a:r>
              <a:rPr lang="en-US" b="1" dirty="0"/>
              <a:t>L2 Norm (Euclidean Distance)</a:t>
            </a:r>
          </a:p>
        </p:txBody>
      </p:sp>
    </p:spTree>
    <p:extLst>
      <p:ext uri="{BB962C8B-B14F-4D97-AF65-F5344CB8AC3E}">
        <p14:creationId xmlns:p14="http://schemas.microsoft.com/office/powerpoint/2010/main" val="297311718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7504" y="116632"/>
            <a:ext cx="7596336" cy="1320800"/>
          </a:xfrm>
        </p:spPr>
        <p:txBody>
          <a:bodyPr>
            <a:normAutofit/>
          </a:bodyPr>
          <a:lstStyle/>
          <a:p>
            <a:r>
              <a:rPr lang="nl-NL" sz="2800" b="1" dirty="0"/>
              <a:t>L1 </a:t>
            </a:r>
            <a:r>
              <a:rPr lang="nl-NL" sz="2800" b="1" dirty="0" smtClean="0"/>
              <a:t>Norm:</a:t>
            </a:r>
            <a:br>
              <a:rPr lang="nl-NL" sz="2800" b="1" dirty="0" smtClean="0"/>
            </a:br>
            <a:r>
              <a:rPr lang="nl-NL" sz="2800" b="1" dirty="0" smtClean="0"/>
              <a:t>(</a:t>
            </a:r>
            <a:r>
              <a:rPr lang="nl-NL" sz="2800" b="1" dirty="0"/>
              <a:t>Manhattan Norm or Taxicab Norm)</a:t>
            </a:r>
            <a:endParaRPr lang="en-US" sz="2800" b="1" dirty="0"/>
          </a:p>
        </p:txBody>
      </p:sp>
      <p:sp>
        <p:nvSpPr>
          <p:cNvPr id="3" name="Content Placeholder 2"/>
          <p:cNvSpPr>
            <a:spLocks noGrp="1"/>
          </p:cNvSpPr>
          <p:nvPr>
            <p:ph idx="1"/>
          </p:nvPr>
        </p:nvSpPr>
        <p:spPr>
          <a:xfrm>
            <a:off x="117456" y="1437433"/>
            <a:ext cx="7262856" cy="2495624"/>
          </a:xfrm>
        </p:spPr>
        <p:txBody>
          <a:bodyPr/>
          <a:lstStyle/>
          <a:p>
            <a:pPr>
              <a:lnSpc>
                <a:spcPct val="150000"/>
              </a:lnSpc>
            </a:pPr>
            <a:r>
              <a:rPr lang="en-US" dirty="0"/>
              <a:t>The </a:t>
            </a:r>
            <a:r>
              <a:rPr lang="en-US" b="1" dirty="0"/>
              <a:t>L1 norm</a:t>
            </a:r>
            <a:r>
              <a:rPr lang="en-US" dirty="0"/>
              <a:t> of a vector is the sum of the absolute values of its components. </a:t>
            </a:r>
            <a:endParaRPr lang="en-US" dirty="0" smtClean="0"/>
          </a:p>
          <a:p>
            <a:pPr>
              <a:lnSpc>
                <a:spcPct val="150000"/>
              </a:lnSpc>
            </a:pPr>
            <a:r>
              <a:rPr lang="en-US" dirty="0" smtClean="0"/>
              <a:t>It </a:t>
            </a:r>
            <a:r>
              <a:rPr lang="en-US" dirty="0"/>
              <a:t>is called the Manhattan norm because it mimics the way one would travel through the grid-like streets of Manhattan (following a path along the axes).</a:t>
            </a:r>
          </a:p>
        </p:txBody>
      </p:sp>
      <p:pic>
        <p:nvPicPr>
          <p:cNvPr id="4" name="Picture 3"/>
          <p:cNvPicPr>
            <a:picLocks noChangeAspect="1"/>
          </p:cNvPicPr>
          <p:nvPr/>
        </p:nvPicPr>
        <p:blipFill>
          <a:blip r:embed="rId2"/>
          <a:stretch>
            <a:fillRect/>
          </a:stretch>
        </p:blipFill>
        <p:spPr>
          <a:xfrm>
            <a:off x="467544" y="3949785"/>
            <a:ext cx="6192114" cy="2324424"/>
          </a:xfrm>
          <a:prstGeom prst="rect">
            <a:avLst/>
          </a:prstGeom>
        </p:spPr>
      </p:pic>
    </p:spTree>
    <p:extLst>
      <p:ext uri="{BB962C8B-B14F-4D97-AF65-F5344CB8AC3E}">
        <p14:creationId xmlns:p14="http://schemas.microsoft.com/office/powerpoint/2010/main" val="242949356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683568" y="692696"/>
            <a:ext cx="4842615" cy="5184576"/>
          </a:xfrm>
          <a:prstGeom prst="rect">
            <a:avLst/>
          </a:prstGeom>
        </p:spPr>
      </p:pic>
    </p:spTree>
    <p:extLst>
      <p:ext uri="{BB962C8B-B14F-4D97-AF65-F5344CB8AC3E}">
        <p14:creationId xmlns:p14="http://schemas.microsoft.com/office/powerpoint/2010/main" val="296675689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1520" y="260648"/>
            <a:ext cx="6347713" cy="1320800"/>
          </a:xfrm>
        </p:spPr>
        <p:txBody>
          <a:bodyPr>
            <a:normAutofit/>
          </a:bodyPr>
          <a:lstStyle/>
          <a:p>
            <a:r>
              <a:rPr lang="en-US" sz="3200" b="1" dirty="0"/>
              <a:t>L2 Norm (Euclidean Norm)</a:t>
            </a:r>
          </a:p>
        </p:txBody>
      </p:sp>
      <p:sp>
        <p:nvSpPr>
          <p:cNvPr id="3" name="Content Placeholder 2"/>
          <p:cNvSpPr>
            <a:spLocks noGrp="1"/>
          </p:cNvSpPr>
          <p:nvPr>
            <p:ph idx="1"/>
          </p:nvPr>
        </p:nvSpPr>
        <p:spPr>
          <a:xfrm>
            <a:off x="0" y="1196753"/>
            <a:ext cx="7236296" cy="2304256"/>
          </a:xfrm>
        </p:spPr>
        <p:txBody>
          <a:bodyPr/>
          <a:lstStyle/>
          <a:p>
            <a:pPr>
              <a:lnSpc>
                <a:spcPct val="150000"/>
              </a:lnSpc>
            </a:pPr>
            <a:r>
              <a:rPr lang="en-US" dirty="0"/>
              <a:t>The </a:t>
            </a:r>
            <a:r>
              <a:rPr lang="en-US" b="1" dirty="0"/>
              <a:t>L2 norm</a:t>
            </a:r>
            <a:r>
              <a:rPr lang="en-US" dirty="0"/>
              <a:t> of a vector is the square root of the sum of the squares of its components. </a:t>
            </a:r>
            <a:endParaRPr lang="en-US" dirty="0" smtClean="0"/>
          </a:p>
          <a:p>
            <a:pPr>
              <a:lnSpc>
                <a:spcPct val="150000"/>
              </a:lnSpc>
            </a:pPr>
            <a:r>
              <a:rPr lang="en-US" dirty="0" smtClean="0"/>
              <a:t>This </a:t>
            </a:r>
            <a:r>
              <a:rPr lang="en-US" dirty="0"/>
              <a:t>is the most common measure of vector magnitude and corresponds to the Euclidean distance from the origin to the point represented by the vector.</a:t>
            </a:r>
          </a:p>
        </p:txBody>
      </p:sp>
      <p:pic>
        <p:nvPicPr>
          <p:cNvPr id="4" name="Picture 3"/>
          <p:cNvPicPr>
            <a:picLocks noChangeAspect="1"/>
          </p:cNvPicPr>
          <p:nvPr/>
        </p:nvPicPr>
        <p:blipFill>
          <a:blip r:embed="rId2"/>
          <a:stretch>
            <a:fillRect/>
          </a:stretch>
        </p:blipFill>
        <p:spPr>
          <a:xfrm>
            <a:off x="323528" y="3789040"/>
            <a:ext cx="6566247" cy="2323303"/>
          </a:xfrm>
          <a:prstGeom prst="rect">
            <a:avLst/>
          </a:prstGeom>
        </p:spPr>
      </p:pic>
    </p:spTree>
    <p:extLst>
      <p:ext uri="{BB962C8B-B14F-4D97-AF65-F5344CB8AC3E}">
        <p14:creationId xmlns:p14="http://schemas.microsoft.com/office/powerpoint/2010/main" val="242321039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stretch>
            <a:fillRect/>
          </a:stretch>
        </p:blipFill>
        <p:spPr>
          <a:xfrm>
            <a:off x="167404" y="260648"/>
            <a:ext cx="7056784" cy="2088232"/>
          </a:xfrm>
          <a:prstGeom prst="rect">
            <a:avLst/>
          </a:prstGeom>
        </p:spPr>
      </p:pic>
      <p:pic>
        <p:nvPicPr>
          <p:cNvPr id="7" name="Picture 6"/>
          <p:cNvPicPr>
            <a:picLocks noChangeAspect="1"/>
          </p:cNvPicPr>
          <p:nvPr/>
        </p:nvPicPr>
        <p:blipFill>
          <a:blip r:embed="rId3"/>
          <a:stretch>
            <a:fillRect/>
          </a:stretch>
        </p:blipFill>
        <p:spPr>
          <a:xfrm>
            <a:off x="629026" y="2780928"/>
            <a:ext cx="6600520" cy="3240360"/>
          </a:xfrm>
          <a:prstGeom prst="rect">
            <a:avLst/>
          </a:prstGeom>
        </p:spPr>
      </p:pic>
    </p:spTree>
    <p:extLst>
      <p:ext uri="{BB962C8B-B14F-4D97-AF65-F5344CB8AC3E}">
        <p14:creationId xmlns:p14="http://schemas.microsoft.com/office/powerpoint/2010/main" val="403185626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79512" y="404664"/>
            <a:ext cx="6953273" cy="3240360"/>
          </a:xfrm>
          <a:prstGeom prst="rect">
            <a:avLst/>
          </a:prstGeom>
        </p:spPr>
      </p:pic>
      <p:pic>
        <p:nvPicPr>
          <p:cNvPr id="5" name="Picture 4"/>
          <p:cNvPicPr>
            <a:picLocks noChangeAspect="1"/>
          </p:cNvPicPr>
          <p:nvPr/>
        </p:nvPicPr>
        <p:blipFill>
          <a:blip r:embed="rId3"/>
          <a:stretch>
            <a:fillRect/>
          </a:stretch>
        </p:blipFill>
        <p:spPr>
          <a:xfrm>
            <a:off x="1691680" y="4365104"/>
            <a:ext cx="2753109" cy="543001"/>
          </a:xfrm>
          <a:prstGeom prst="rect">
            <a:avLst/>
          </a:prstGeom>
        </p:spPr>
      </p:pic>
      <p:pic>
        <p:nvPicPr>
          <p:cNvPr id="2" name="Picture 1"/>
          <p:cNvPicPr>
            <a:picLocks noChangeAspect="1"/>
          </p:cNvPicPr>
          <p:nvPr/>
        </p:nvPicPr>
        <p:blipFill>
          <a:blip r:embed="rId4"/>
          <a:stretch>
            <a:fillRect/>
          </a:stretch>
        </p:blipFill>
        <p:spPr>
          <a:xfrm>
            <a:off x="4716016" y="3789040"/>
            <a:ext cx="3153215" cy="2800741"/>
          </a:xfrm>
          <a:prstGeom prst="rect">
            <a:avLst/>
          </a:prstGeom>
        </p:spPr>
      </p:pic>
    </p:spTree>
    <p:extLst>
      <p:ext uri="{BB962C8B-B14F-4D97-AF65-F5344CB8AC3E}">
        <p14:creationId xmlns:p14="http://schemas.microsoft.com/office/powerpoint/2010/main" val="220205265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395536" y="188640"/>
            <a:ext cx="6048672" cy="5079122"/>
          </a:xfrm>
          <a:prstGeom prst="rect">
            <a:avLst/>
          </a:prstGeom>
        </p:spPr>
      </p:pic>
    </p:spTree>
    <p:extLst>
      <p:ext uri="{BB962C8B-B14F-4D97-AF65-F5344CB8AC3E}">
        <p14:creationId xmlns:p14="http://schemas.microsoft.com/office/powerpoint/2010/main" val="241860859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118166"/>
            <a:ext cx="6048672" cy="708688"/>
          </a:xfrm>
        </p:spPr>
        <p:txBody>
          <a:bodyPr>
            <a:normAutofit fontScale="90000"/>
          </a:bodyPr>
          <a:lstStyle/>
          <a:p>
            <a:pPr>
              <a:lnSpc>
                <a:spcPct val="150000"/>
              </a:lnSpc>
            </a:pPr>
            <a:r>
              <a:rPr lang="en-US" b="1" dirty="0"/>
              <a:t>Angle between two </a:t>
            </a:r>
            <a:r>
              <a:rPr lang="en-US" b="1" dirty="0" smtClean="0"/>
              <a:t>vectors:</a:t>
            </a:r>
            <a:endParaRPr lang="en-US" b="1" dirty="0"/>
          </a:p>
        </p:txBody>
      </p:sp>
      <p:sp>
        <p:nvSpPr>
          <p:cNvPr id="3" name="Content Placeholder 2"/>
          <p:cNvSpPr>
            <a:spLocks noGrp="1"/>
          </p:cNvSpPr>
          <p:nvPr>
            <p:ph idx="1"/>
          </p:nvPr>
        </p:nvSpPr>
        <p:spPr>
          <a:xfrm>
            <a:off x="152128" y="1052736"/>
            <a:ext cx="7012160" cy="4389120"/>
          </a:xfrm>
        </p:spPr>
        <p:txBody>
          <a:bodyPr>
            <a:normAutofit/>
          </a:bodyPr>
          <a:lstStyle/>
          <a:p>
            <a:pPr marL="285750" lvl="1" algn="just">
              <a:lnSpc>
                <a:spcPct val="150000"/>
              </a:lnSpc>
              <a:buFont typeface="Wingdings" panose="05000000000000000000" pitchFamily="2" charset="2"/>
              <a:buChar char="Ø"/>
            </a:pPr>
            <a:r>
              <a:rPr lang="en-US" sz="1800" dirty="0" smtClean="0"/>
              <a:t>The </a:t>
            </a:r>
            <a:r>
              <a:rPr lang="en-US" sz="1800" dirty="0"/>
              <a:t>angle between two vectors can be found using the dot product formula. Specifically, the dot product of two vectors is related to the cosine of </a:t>
            </a:r>
            <a:r>
              <a:rPr lang="en-US" sz="1800" dirty="0" smtClean="0"/>
              <a:t>the </a:t>
            </a:r>
            <a:r>
              <a:rPr lang="en-US" sz="1800" dirty="0"/>
              <a:t>angle between them. </a:t>
            </a:r>
          </a:p>
        </p:txBody>
      </p:sp>
      <p:pic>
        <p:nvPicPr>
          <p:cNvPr id="92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8451" y="2564904"/>
            <a:ext cx="6259513" cy="27809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51907080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512" y="620688"/>
            <a:ext cx="6935787" cy="1704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4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2532" y="2564904"/>
            <a:ext cx="6912767" cy="3352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56236799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505" y="404664"/>
            <a:ext cx="6696744" cy="2133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26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2760" y="2780927"/>
            <a:ext cx="7185544" cy="19254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 name="Picture 1"/>
          <p:cNvPicPr>
            <a:picLocks noChangeAspect="1"/>
          </p:cNvPicPr>
          <p:nvPr/>
        </p:nvPicPr>
        <p:blipFill>
          <a:blip r:embed="rId4"/>
          <a:stretch>
            <a:fillRect/>
          </a:stretch>
        </p:blipFill>
        <p:spPr>
          <a:xfrm>
            <a:off x="323528" y="5186722"/>
            <a:ext cx="4242190" cy="1512168"/>
          </a:xfrm>
          <a:prstGeom prst="rect">
            <a:avLst/>
          </a:prstGeom>
        </p:spPr>
      </p:pic>
    </p:spTree>
    <p:extLst>
      <p:ext uri="{BB962C8B-B14F-4D97-AF65-F5344CB8AC3E}">
        <p14:creationId xmlns:p14="http://schemas.microsoft.com/office/powerpoint/2010/main" val="25905451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620688"/>
            <a:ext cx="6597486" cy="15841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 name="Picture 1"/>
          <p:cNvPicPr>
            <a:picLocks noChangeAspect="1"/>
          </p:cNvPicPr>
          <p:nvPr/>
        </p:nvPicPr>
        <p:blipFill>
          <a:blip r:embed="rId3"/>
          <a:stretch>
            <a:fillRect/>
          </a:stretch>
        </p:blipFill>
        <p:spPr>
          <a:xfrm>
            <a:off x="251520" y="2375426"/>
            <a:ext cx="4032448" cy="4479523"/>
          </a:xfrm>
          <a:prstGeom prst="rect">
            <a:avLst/>
          </a:prstGeom>
        </p:spPr>
      </p:pic>
    </p:spTree>
    <p:extLst>
      <p:ext uri="{BB962C8B-B14F-4D97-AF65-F5344CB8AC3E}">
        <p14:creationId xmlns:p14="http://schemas.microsoft.com/office/powerpoint/2010/main" val="280254269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512" y="476672"/>
            <a:ext cx="6484041" cy="12454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31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7318" y="1988840"/>
            <a:ext cx="6972795" cy="1636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316"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7318" y="4221088"/>
            <a:ext cx="6511701" cy="10114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317"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1520" y="5445224"/>
            <a:ext cx="5868987" cy="12698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81704062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7544" y="404664"/>
            <a:ext cx="6552728" cy="5904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32994811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3528" y="260648"/>
            <a:ext cx="8229600" cy="564672"/>
          </a:xfrm>
        </p:spPr>
        <p:txBody>
          <a:bodyPr>
            <a:noAutofit/>
          </a:bodyPr>
          <a:lstStyle/>
          <a:p>
            <a:r>
              <a:rPr lang="en-US" sz="3600" b="1" dirty="0"/>
              <a:t>Cosine Similarity</a:t>
            </a:r>
          </a:p>
        </p:txBody>
      </p:sp>
      <p:sp>
        <p:nvSpPr>
          <p:cNvPr id="3" name="Content Placeholder 2"/>
          <p:cNvSpPr>
            <a:spLocks noGrp="1"/>
          </p:cNvSpPr>
          <p:nvPr>
            <p:ph idx="1"/>
          </p:nvPr>
        </p:nvSpPr>
        <p:spPr>
          <a:xfrm>
            <a:off x="107504" y="980728"/>
            <a:ext cx="8229600" cy="3816424"/>
          </a:xfrm>
        </p:spPr>
        <p:txBody>
          <a:bodyPr>
            <a:normAutofit/>
          </a:bodyPr>
          <a:lstStyle/>
          <a:p>
            <a:pPr algn="just">
              <a:lnSpc>
                <a:spcPct val="150000"/>
              </a:lnSpc>
              <a:buFont typeface="Wingdings" panose="05000000000000000000" pitchFamily="2" charset="2"/>
              <a:buChar char="Ø"/>
            </a:pPr>
            <a:r>
              <a:rPr lang="en-US" b="1" dirty="0"/>
              <a:t>Cosine similarity </a:t>
            </a:r>
            <a:r>
              <a:rPr lang="en-US" dirty="0"/>
              <a:t>is a measure that calculates the cosine of the angle between two non-zero vectors in a multidimensional space. </a:t>
            </a:r>
            <a:endParaRPr lang="en-US" dirty="0" smtClean="0"/>
          </a:p>
          <a:p>
            <a:pPr algn="just">
              <a:lnSpc>
                <a:spcPct val="150000"/>
              </a:lnSpc>
              <a:buFont typeface="Wingdings" panose="05000000000000000000" pitchFamily="2" charset="2"/>
              <a:buChar char="Ø"/>
            </a:pPr>
            <a:r>
              <a:rPr lang="en-US" dirty="0" smtClean="0"/>
              <a:t>This </a:t>
            </a:r>
            <a:r>
              <a:rPr lang="en-US" dirty="0"/>
              <a:t>metric is often used </a:t>
            </a:r>
            <a:r>
              <a:rPr lang="en-US" b="1" dirty="0"/>
              <a:t>to measure the similarity between documents </a:t>
            </a:r>
            <a:r>
              <a:rPr lang="en-US" dirty="0"/>
              <a:t>or </a:t>
            </a:r>
            <a:r>
              <a:rPr lang="en-US" b="1" dirty="0"/>
              <a:t>data points in high-dimensional spaces </a:t>
            </a:r>
            <a:r>
              <a:rPr lang="en-US" dirty="0"/>
              <a:t>such as in text analysis, clustering, and other machine learning applications</a:t>
            </a:r>
            <a:r>
              <a:rPr lang="en-US" dirty="0" smtClean="0"/>
              <a:t>.</a:t>
            </a:r>
          </a:p>
          <a:p>
            <a:pPr algn="just">
              <a:lnSpc>
                <a:spcPct val="150000"/>
              </a:lnSpc>
              <a:buFont typeface="Wingdings" panose="05000000000000000000" pitchFamily="2" charset="2"/>
              <a:buChar char="Ø"/>
            </a:pPr>
            <a:r>
              <a:rPr lang="en-US" dirty="0" smtClean="0"/>
              <a:t>It </a:t>
            </a:r>
            <a:r>
              <a:rPr lang="en-US" dirty="0"/>
              <a:t>is used to determine </a:t>
            </a:r>
            <a:r>
              <a:rPr lang="en-US" b="1" dirty="0"/>
              <a:t>how similar two vectors are </a:t>
            </a:r>
            <a:r>
              <a:rPr lang="en-US" dirty="0"/>
              <a:t>regardless of their magnitude.</a:t>
            </a:r>
          </a:p>
        </p:txBody>
      </p:sp>
      <p:sp>
        <p:nvSpPr>
          <p:cNvPr id="4" name="Rectangle 3"/>
          <p:cNvSpPr/>
          <p:nvPr/>
        </p:nvSpPr>
        <p:spPr>
          <a:xfrm>
            <a:off x="467544" y="5445224"/>
            <a:ext cx="7344816" cy="872483"/>
          </a:xfrm>
          <a:prstGeom prst="rect">
            <a:avLst/>
          </a:prstGeom>
        </p:spPr>
        <p:txBody>
          <a:bodyPr wrap="square">
            <a:spAutoFit/>
          </a:bodyPr>
          <a:lstStyle/>
          <a:p>
            <a:pPr>
              <a:lnSpc>
                <a:spcPct val="150000"/>
              </a:lnSpc>
              <a:buFont typeface="Wingdings" panose="05000000000000000000" pitchFamily="2" charset="2"/>
              <a:buChar char="Ø"/>
            </a:pPr>
            <a:r>
              <a:rPr lang="en-US" dirty="0" smtClean="0">
                <a:solidFill>
                  <a:schemeClr val="tx1">
                    <a:lumMod val="75000"/>
                    <a:lumOff val="25000"/>
                  </a:schemeClr>
                </a:solidFill>
              </a:rPr>
              <a:t>Where </a:t>
            </a:r>
            <a:r>
              <a:rPr lang="en-US" dirty="0">
                <a:solidFill>
                  <a:schemeClr val="tx1">
                    <a:lumMod val="75000"/>
                    <a:lumOff val="25000"/>
                  </a:schemeClr>
                </a:solidFill>
              </a:rPr>
              <a:t>A⋅B is the dot product of vectors A and B, and ∥A∥ and ∥B∥ are the magnitudes (norms) of the vectors.</a:t>
            </a:r>
          </a:p>
        </p:txBody>
      </p:sp>
      <p:pic>
        <p:nvPicPr>
          <p:cNvPr id="5" name="Picture 4"/>
          <p:cNvPicPr>
            <a:picLocks noChangeAspect="1"/>
          </p:cNvPicPr>
          <p:nvPr/>
        </p:nvPicPr>
        <p:blipFill>
          <a:blip r:embed="rId2"/>
          <a:stretch>
            <a:fillRect/>
          </a:stretch>
        </p:blipFill>
        <p:spPr>
          <a:xfrm>
            <a:off x="2267744" y="4232480"/>
            <a:ext cx="2980026" cy="720080"/>
          </a:xfrm>
          <a:prstGeom prst="rect">
            <a:avLst/>
          </a:prstGeom>
        </p:spPr>
      </p:pic>
    </p:spTree>
    <p:extLst>
      <p:ext uri="{BB962C8B-B14F-4D97-AF65-F5344CB8AC3E}">
        <p14:creationId xmlns:p14="http://schemas.microsoft.com/office/powerpoint/2010/main" val="275082722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7504" y="188640"/>
            <a:ext cx="1944216" cy="708688"/>
          </a:xfrm>
        </p:spPr>
        <p:txBody>
          <a:bodyPr>
            <a:normAutofit/>
          </a:bodyPr>
          <a:lstStyle/>
          <a:p>
            <a:r>
              <a:rPr lang="en-US" sz="3200" b="1" dirty="0" smtClean="0"/>
              <a:t>Example:</a:t>
            </a:r>
            <a:endParaRPr lang="en-US" sz="3200" b="1" dirty="0"/>
          </a:p>
        </p:txBody>
      </p:sp>
      <p:sp>
        <p:nvSpPr>
          <p:cNvPr id="3" name="Content Placeholder 2"/>
          <p:cNvSpPr>
            <a:spLocks noGrp="1"/>
          </p:cNvSpPr>
          <p:nvPr>
            <p:ph idx="1"/>
          </p:nvPr>
        </p:nvSpPr>
        <p:spPr>
          <a:xfrm>
            <a:off x="-28525" y="903455"/>
            <a:ext cx="7416824" cy="4623792"/>
          </a:xfrm>
        </p:spPr>
        <p:txBody>
          <a:bodyPr>
            <a:normAutofit fontScale="92500"/>
          </a:bodyPr>
          <a:lstStyle/>
          <a:p>
            <a:pPr algn="just">
              <a:lnSpc>
                <a:spcPct val="150000"/>
              </a:lnSpc>
              <a:buFont typeface="Wingdings" panose="05000000000000000000" pitchFamily="2" charset="2"/>
              <a:buChar char="Ø"/>
            </a:pPr>
            <a:r>
              <a:rPr lang="en-US" sz="1800" dirty="0"/>
              <a:t>Consider two text documents represented as term frequency vectors. These vectors represent the frequency of specific terms (words) in each document. Let's calculate the cosine similarity between these two vectors to determine how similar the documents are</a:t>
            </a:r>
            <a:r>
              <a:rPr lang="en-US" sz="1800" dirty="0" smtClean="0"/>
              <a:t>.</a:t>
            </a:r>
          </a:p>
          <a:p>
            <a:pPr>
              <a:lnSpc>
                <a:spcPct val="150000"/>
              </a:lnSpc>
              <a:buFont typeface="Wingdings" panose="05000000000000000000" pitchFamily="2" charset="2"/>
              <a:buChar char="Ø"/>
            </a:pPr>
            <a:r>
              <a:rPr lang="en-US" sz="1800" b="1" dirty="0"/>
              <a:t>Document </a:t>
            </a:r>
            <a:r>
              <a:rPr lang="en-US" sz="1800" b="1" dirty="0" smtClean="0"/>
              <a:t>Vectors:</a:t>
            </a:r>
          </a:p>
          <a:p>
            <a:pPr marL="0" indent="0">
              <a:lnSpc>
                <a:spcPct val="150000"/>
              </a:lnSpc>
              <a:buNone/>
            </a:pPr>
            <a:r>
              <a:rPr lang="en-US" sz="1800" b="1" dirty="0"/>
              <a:t>	</a:t>
            </a:r>
            <a:r>
              <a:rPr lang="en-US" sz="1800" dirty="0" smtClean="0"/>
              <a:t>Let's </a:t>
            </a:r>
            <a:r>
              <a:rPr lang="en-US" sz="1800" dirty="0"/>
              <a:t>assume the documents are </a:t>
            </a:r>
            <a:r>
              <a:rPr lang="en-US" sz="1800" dirty="0" err="1"/>
              <a:t>vectorized</a:t>
            </a:r>
            <a:r>
              <a:rPr lang="en-US" sz="1800" dirty="0"/>
              <a:t> as </a:t>
            </a:r>
            <a:r>
              <a:rPr lang="en-US" sz="1800" dirty="0" smtClean="0"/>
              <a:t>follows:</a:t>
            </a:r>
          </a:p>
          <a:p>
            <a:pPr marL="0" indent="0">
              <a:lnSpc>
                <a:spcPct val="150000"/>
              </a:lnSpc>
              <a:buNone/>
            </a:pPr>
            <a:r>
              <a:rPr lang="en-US" sz="1800" b="1" dirty="0"/>
              <a:t>	</a:t>
            </a:r>
            <a:r>
              <a:rPr lang="en-US" sz="1800" b="1" dirty="0" smtClean="0"/>
              <a:t>Document </a:t>
            </a:r>
            <a:r>
              <a:rPr lang="en-US" sz="1800" b="1" dirty="0"/>
              <a:t>A:</a:t>
            </a:r>
            <a:r>
              <a:rPr lang="en-US" sz="1800" dirty="0"/>
              <a:t> [1,3,0,2</a:t>
            </a:r>
            <a:r>
              <a:rPr lang="en-US" sz="1800" dirty="0" smtClean="0"/>
              <a:t>]</a:t>
            </a:r>
            <a:endParaRPr lang="en-US" sz="1800" dirty="0"/>
          </a:p>
          <a:p>
            <a:pPr marL="0" indent="0">
              <a:lnSpc>
                <a:spcPct val="150000"/>
              </a:lnSpc>
              <a:buNone/>
            </a:pPr>
            <a:r>
              <a:rPr lang="en-US" sz="1800" b="1" dirty="0"/>
              <a:t>	</a:t>
            </a:r>
            <a:r>
              <a:rPr lang="en-US" sz="1800" b="1" dirty="0" smtClean="0"/>
              <a:t>Document </a:t>
            </a:r>
            <a:r>
              <a:rPr lang="en-US" sz="1800" b="1" dirty="0"/>
              <a:t>B:</a:t>
            </a:r>
            <a:r>
              <a:rPr lang="en-US" sz="1800" dirty="0"/>
              <a:t> [0,2,1,3</a:t>
            </a:r>
            <a:r>
              <a:rPr lang="en-US" sz="1800" dirty="0" smtClean="0"/>
              <a:t>]</a:t>
            </a:r>
            <a:endParaRPr lang="en-US" sz="1800" dirty="0"/>
          </a:p>
          <a:p>
            <a:pPr algn="just">
              <a:lnSpc>
                <a:spcPct val="150000"/>
              </a:lnSpc>
              <a:buFont typeface="Wingdings" panose="05000000000000000000" pitchFamily="2" charset="2"/>
              <a:buChar char="Ø"/>
            </a:pPr>
            <a:r>
              <a:rPr lang="en-US" sz="1800" dirty="0"/>
              <a:t>These vectors could represent the term frequencies of four specific words in two different documents.</a:t>
            </a:r>
          </a:p>
        </p:txBody>
      </p:sp>
    </p:spTree>
    <p:extLst>
      <p:ext uri="{BB962C8B-B14F-4D97-AF65-F5344CB8AC3E}">
        <p14:creationId xmlns:p14="http://schemas.microsoft.com/office/powerpoint/2010/main" val="14258196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79512" y="476672"/>
            <a:ext cx="7050079" cy="3850043"/>
          </a:xfrm>
          <a:prstGeom prst="rect">
            <a:avLst/>
          </a:prstGeom>
        </p:spPr>
      </p:pic>
    </p:spTree>
    <p:extLst>
      <p:ext uri="{BB962C8B-B14F-4D97-AF65-F5344CB8AC3E}">
        <p14:creationId xmlns:p14="http://schemas.microsoft.com/office/powerpoint/2010/main" val="200445019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323528" y="332656"/>
            <a:ext cx="6912767" cy="2836598"/>
          </a:xfrm>
          <a:prstGeom prst="rect">
            <a:avLst/>
          </a:prstGeom>
        </p:spPr>
      </p:pic>
      <p:pic>
        <p:nvPicPr>
          <p:cNvPr id="3" name="Picture 2"/>
          <p:cNvPicPr>
            <a:picLocks noChangeAspect="1"/>
          </p:cNvPicPr>
          <p:nvPr/>
        </p:nvPicPr>
        <p:blipFill>
          <a:blip r:embed="rId3"/>
          <a:stretch>
            <a:fillRect/>
          </a:stretch>
        </p:blipFill>
        <p:spPr>
          <a:xfrm>
            <a:off x="467544" y="3501008"/>
            <a:ext cx="7107235" cy="2357811"/>
          </a:xfrm>
          <a:prstGeom prst="rect">
            <a:avLst/>
          </a:prstGeom>
        </p:spPr>
      </p:pic>
    </p:spTree>
    <p:extLst>
      <p:ext uri="{BB962C8B-B14F-4D97-AF65-F5344CB8AC3E}">
        <p14:creationId xmlns:p14="http://schemas.microsoft.com/office/powerpoint/2010/main" val="44467523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251520" y="332656"/>
            <a:ext cx="6264696" cy="5328592"/>
          </a:xfrm>
          <a:prstGeom prst="rect">
            <a:avLst/>
          </a:prstGeom>
        </p:spPr>
      </p:pic>
    </p:spTree>
    <p:extLst>
      <p:ext uri="{BB962C8B-B14F-4D97-AF65-F5344CB8AC3E}">
        <p14:creationId xmlns:p14="http://schemas.microsoft.com/office/powerpoint/2010/main" val="392231334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07504" y="332656"/>
            <a:ext cx="7049484" cy="2638793"/>
          </a:xfrm>
          <a:prstGeom prst="rect">
            <a:avLst/>
          </a:prstGeom>
        </p:spPr>
      </p:pic>
    </p:spTree>
    <p:extLst>
      <p:ext uri="{BB962C8B-B14F-4D97-AF65-F5344CB8AC3E}">
        <p14:creationId xmlns:p14="http://schemas.microsoft.com/office/powerpoint/2010/main" val="124199231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16632"/>
            <a:ext cx="5292080" cy="780696"/>
          </a:xfrm>
        </p:spPr>
        <p:txBody>
          <a:bodyPr>
            <a:normAutofit/>
          </a:bodyPr>
          <a:lstStyle/>
          <a:p>
            <a:pPr algn="ctr"/>
            <a:r>
              <a:rPr lang="en-US" sz="3600" b="1" dirty="0"/>
              <a:t>Projection of a </a:t>
            </a:r>
            <a:r>
              <a:rPr lang="en-US" sz="3600" b="1" dirty="0" smtClean="0"/>
              <a:t>Vector</a:t>
            </a:r>
            <a:endParaRPr lang="en-US" sz="3600" dirty="0"/>
          </a:p>
        </p:txBody>
      </p:sp>
      <p:sp>
        <p:nvSpPr>
          <p:cNvPr id="3" name="Content Placeholder 2"/>
          <p:cNvSpPr>
            <a:spLocks noGrp="1"/>
          </p:cNvSpPr>
          <p:nvPr>
            <p:ph idx="1"/>
          </p:nvPr>
        </p:nvSpPr>
        <p:spPr>
          <a:xfrm>
            <a:off x="35229" y="1124744"/>
            <a:ext cx="7330028" cy="2520280"/>
          </a:xfrm>
        </p:spPr>
        <p:txBody>
          <a:bodyPr>
            <a:normAutofit fontScale="85000" lnSpcReduction="10000"/>
          </a:bodyPr>
          <a:lstStyle/>
          <a:p>
            <a:pPr>
              <a:lnSpc>
                <a:spcPct val="160000"/>
              </a:lnSpc>
              <a:buFont typeface="Wingdings" panose="05000000000000000000" pitchFamily="2" charset="2"/>
              <a:buChar char="Ø"/>
            </a:pPr>
            <a:r>
              <a:rPr lang="en-US" sz="2000" b="1" dirty="0"/>
              <a:t>Vector projection</a:t>
            </a:r>
            <a:r>
              <a:rPr lang="en-US" sz="2000" dirty="0"/>
              <a:t> is a fundamental operation in linear algebra that has several applications in data science, particularly in understanding concepts like regression, principal component analysis (</a:t>
            </a:r>
            <a:r>
              <a:rPr lang="en-US" sz="2000" dirty="0" smtClean="0"/>
              <a:t>PCA).</a:t>
            </a:r>
          </a:p>
          <a:p>
            <a:pPr>
              <a:lnSpc>
                <a:spcPct val="160000"/>
              </a:lnSpc>
              <a:buFont typeface="Wingdings" panose="05000000000000000000" pitchFamily="2" charset="2"/>
              <a:buChar char="Ø"/>
            </a:pPr>
            <a:r>
              <a:rPr lang="en-US" sz="2000" dirty="0" smtClean="0"/>
              <a:t>The </a:t>
            </a:r>
            <a:r>
              <a:rPr lang="en-US" sz="2000" dirty="0"/>
              <a:t>projection of vector </a:t>
            </a:r>
            <a:r>
              <a:rPr lang="en-US" sz="2000" b="1" dirty="0" smtClean="0"/>
              <a:t>a</a:t>
            </a:r>
            <a:r>
              <a:rPr lang="en-US" sz="2000" dirty="0" smtClean="0"/>
              <a:t> </a:t>
            </a:r>
            <a:r>
              <a:rPr lang="en-US" sz="2000" dirty="0"/>
              <a:t>onto vector </a:t>
            </a:r>
            <a:r>
              <a:rPr lang="en-US" sz="2000" b="1" dirty="0" smtClean="0"/>
              <a:t>b</a:t>
            </a:r>
            <a:r>
              <a:rPr lang="en-US" sz="2000" dirty="0" smtClean="0"/>
              <a:t> </a:t>
            </a:r>
            <a:r>
              <a:rPr lang="en-US" sz="2000" dirty="0"/>
              <a:t>is a vector that represents the shadow or footprint of </a:t>
            </a:r>
            <a:r>
              <a:rPr lang="en-US" sz="2000" b="1" dirty="0" smtClean="0"/>
              <a:t>a</a:t>
            </a:r>
            <a:r>
              <a:rPr lang="en-US" sz="2000" dirty="0" smtClean="0"/>
              <a:t> </a:t>
            </a:r>
            <a:r>
              <a:rPr lang="en-US" sz="2000" dirty="0"/>
              <a:t>in the direction of </a:t>
            </a:r>
            <a:r>
              <a:rPr lang="en-US" sz="2000" b="1" dirty="0" smtClean="0"/>
              <a:t>b</a:t>
            </a:r>
            <a:r>
              <a:rPr lang="en-US" sz="2000" dirty="0"/>
              <a:t>.</a:t>
            </a:r>
          </a:p>
        </p:txBody>
      </p:sp>
      <p:pic>
        <p:nvPicPr>
          <p:cNvPr id="1536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512" y="3645024"/>
            <a:ext cx="6681689" cy="23946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19383349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7504" y="116632"/>
            <a:ext cx="7344816" cy="648072"/>
          </a:xfrm>
        </p:spPr>
        <p:txBody>
          <a:bodyPr>
            <a:noAutofit/>
          </a:bodyPr>
          <a:lstStyle/>
          <a:p>
            <a:r>
              <a:rPr lang="en-US" sz="3200" b="1" dirty="0"/>
              <a:t>Steps to Compute the </a:t>
            </a:r>
            <a:r>
              <a:rPr lang="en-US" sz="3200" b="1" dirty="0" smtClean="0"/>
              <a:t>Projection</a:t>
            </a:r>
            <a:endParaRPr lang="en-US" sz="3200" dirty="0"/>
          </a:p>
        </p:txBody>
      </p:sp>
      <p:pic>
        <p:nvPicPr>
          <p:cNvPr id="1638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016" y="1052736"/>
            <a:ext cx="6782338" cy="3456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27592502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1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512" y="332656"/>
            <a:ext cx="6673599" cy="48025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19378099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611560" y="404664"/>
            <a:ext cx="4896544" cy="5491125"/>
          </a:xfrm>
          <a:prstGeom prst="rect">
            <a:avLst/>
          </a:prstGeom>
        </p:spPr>
      </p:pic>
    </p:spTree>
    <p:extLst>
      <p:ext uri="{BB962C8B-B14F-4D97-AF65-F5344CB8AC3E}">
        <p14:creationId xmlns:p14="http://schemas.microsoft.com/office/powerpoint/2010/main" val="261461250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184597"/>
            <a:ext cx="6347713" cy="652115"/>
          </a:xfrm>
        </p:spPr>
        <p:txBody>
          <a:bodyPr/>
          <a:lstStyle/>
          <a:p>
            <a:r>
              <a:rPr lang="en-US" b="1" dirty="0"/>
              <a:t>What is Normalization?</a:t>
            </a:r>
          </a:p>
        </p:txBody>
      </p:sp>
      <p:sp>
        <p:nvSpPr>
          <p:cNvPr id="3" name="Content Placeholder 2"/>
          <p:cNvSpPr>
            <a:spLocks noGrp="1"/>
          </p:cNvSpPr>
          <p:nvPr>
            <p:ph idx="1"/>
          </p:nvPr>
        </p:nvSpPr>
        <p:spPr>
          <a:xfrm>
            <a:off x="179512" y="1022428"/>
            <a:ext cx="7200800" cy="1493520"/>
          </a:xfrm>
        </p:spPr>
        <p:txBody>
          <a:bodyPr>
            <a:normAutofit fontScale="85000" lnSpcReduction="20000"/>
          </a:bodyPr>
          <a:lstStyle/>
          <a:p>
            <a:pPr>
              <a:lnSpc>
                <a:spcPct val="150000"/>
              </a:lnSpc>
              <a:buFont typeface="Wingdings" panose="05000000000000000000" pitchFamily="2" charset="2"/>
              <a:buChar char="Ø"/>
            </a:pPr>
            <a:r>
              <a:rPr lang="en-US" sz="2000" dirty="0"/>
              <a:t>Normalization involves rescaling the data so that it lies within a specific range or has consistent magnitudes, often focusing on ensuring that features or data points are comparable in terms of </a:t>
            </a:r>
            <a:r>
              <a:rPr lang="en-US" sz="2000" b="1" dirty="0"/>
              <a:t>distance metrics</a:t>
            </a:r>
            <a:r>
              <a:rPr lang="en-US" sz="2000" dirty="0"/>
              <a:t>.</a:t>
            </a:r>
          </a:p>
          <a:p>
            <a:pPr>
              <a:lnSpc>
                <a:spcPct val="150000"/>
              </a:lnSpc>
              <a:buFont typeface="Wingdings" panose="05000000000000000000" pitchFamily="2" charset="2"/>
              <a:buChar char="Ø"/>
            </a:pPr>
            <a:endParaRPr lang="en-US" sz="2000" dirty="0"/>
          </a:p>
        </p:txBody>
      </p:sp>
      <p:sp>
        <p:nvSpPr>
          <p:cNvPr id="4" name="Title 1"/>
          <p:cNvSpPr txBox="1">
            <a:spLocks/>
          </p:cNvSpPr>
          <p:nvPr/>
        </p:nvSpPr>
        <p:spPr>
          <a:xfrm>
            <a:off x="188968" y="2614502"/>
            <a:ext cx="7200800" cy="348648"/>
          </a:xfrm>
          <a:prstGeom prst="rect">
            <a:avLst/>
          </a:prstGeom>
        </p:spPr>
        <p:txBody>
          <a:bodyPr vert="horz" lIns="91440" tIns="45720" rIns="91440" bIns="45720" rtlCol="0" anchor="t">
            <a:normAutofit fontScale="52500" lnSpcReduction="20000"/>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4000" b="1" dirty="0" smtClean="0"/>
              <a:t>Why is Normalization Needed?</a:t>
            </a:r>
            <a:endParaRPr lang="en-US" sz="4000" b="1" dirty="0"/>
          </a:p>
        </p:txBody>
      </p:sp>
      <p:sp>
        <p:nvSpPr>
          <p:cNvPr id="5" name="Content Placeholder 2"/>
          <p:cNvSpPr txBox="1">
            <a:spLocks/>
          </p:cNvSpPr>
          <p:nvPr/>
        </p:nvSpPr>
        <p:spPr>
          <a:xfrm>
            <a:off x="162928" y="3061704"/>
            <a:ext cx="8280920" cy="2815568"/>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buFont typeface="Wingdings" panose="05000000000000000000" pitchFamily="2" charset="2"/>
              <a:buChar char="Ø"/>
            </a:pPr>
            <a:r>
              <a:rPr lang="en-US" sz="1900" b="1" dirty="0" smtClean="0"/>
              <a:t>Ensure Fair Contribution of Features:</a:t>
            </a:r>
          </a:p>
          <a:p>
            <a:pPr>
              <a:buFont typeface="Wingdings" panose="05000000000000000000" pitchFamily="2" charset="2"/>
              <a:buChar char="Ø"/>
            </a:pPr>
            <a:r>
              <a:rPr lang="en-US" sz="1700" dirty="0"/>
              <a:t>Without normalization, features with larger scales dominate distance computations in algorithms like k-NN, K-Means, and linear regression</a:t>
            </a:r>
            <a:r>
              <a:rPr lang="en-US" sz="1900" dirty="0" smtClean="0"/>
              <a:t>.</a:t>
            </a:r>
          </a:p>
          <a:p>
            <a:pPr>
              <a:buFont typeface="Wingdings" panose="05000000000000000000" pitchFamily="2" charset="2"/>
              <a:buChar char="Ø"/>
            </a:pPr>
            <a:r>
              <a:rPr lang="en-US" sz="1900" b="1" dirty="0" smtClean="0"/>
              <a:t>Example:</a:t>
            </a:r>
          </a:p>
          <a:p>
            <a:pPr lvl="1">
              <a:buFont typeface="Wingdings" panose="05000000000000000000" pitchFamily="2" charset="2"/>
              <a:buChar char="Ø"/>
            </a:pPr>
            <a:r>
              <a:rPr lang="en-US" sz="1700" dirty="0"/>
              <a:t>Feature 1: Age (1–100 years)</a:t>
            </a:r>
          </a:p>
          <a:p>
            <a:pPr lvl="1">
              <a:buFont typeface="Wingdings" panose="05000000000000000000" pitchFamily="2" charset="2"/>
              <a:buChar char="Ø"/>
            </a:pPr>
            <a:r>
              <a:rPr lang="en-US" sz="1700" dirty="0"/>
              <a:t>Feature 2: Salary (10,000–1,000,000)</a:t>
            </a:r>
          </a:p>
          <a:p>
            <a:pPr lvl="1">
              <a:buFont typeface="Wingdings" panose="05000000000000000000" pitchFamily="2" charset="2"/>
              <a:buChar char="Ø"/>
            </a:pPr>
            <a:r>
              <a:rPr lang="en-US" sz="1700" dirty="0"/>
              <a:t>Salary will disproportionately affect Euclidean distance unless normalized</a:t>
            </a:r>
            <a:r>
              <a:rPr lang="en-US" sz="1700" dirty="0" smtClean="0"/>
              <a:t>.</a:t>
            </a:r>
            <a:endParaRPr lang="en-US" dirty="0"/>
          </a:p>
        </p:txBody>
      </p:sp>
    </p:spTree>
    <p:extLst>
      <p:ext uri="{BB962C8B-B14F-4D97-AF65-F5344CB8AC3E}">
        <p14:creationId xmlns:p14="http://schemas.microsoft.com/office/powerpoint/2010/main" val="364870990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9395" y="188640"/>
            <a:ext cx="6347713" cy="1320800"/>
          </a:xfrm>
        </p:spPr>
        <p:txBody>
          <a:bodyPr>
            <a:noAutofit/>
          </a:bodyPr>
          <a:lstStyle/>
          <a:p>
            <a:pPr algn="ctr"/>
            <a:r>
              <a:rPr lang="en-US" b="1" dirty="0"/>
              <a:t>Normalization Techniques Using Distance</a:t>
            </a:r>
          </a:p>
        </p:txBody>
      </p:sp>
      <p:pic>
        <p:nvPicPr>
          <p:cNvPr id="3" name="Picture 2"/>
          <p:cNvPicPr>
            <a:picLocks noChangeAspect="1"/>
          </p:cNvPicPr>
          <p:nvPr/>
        </p:nvPicPr>
        <p:blipFill>
          <a:blip r:embed="rId2"/>
          <a:stretch>
            <a:fillRect/>
          </a:stretch>
        </p:blipFill>
        <p:spPr>
          <a:xfrm>
            <a:off x="188750" y="1700808"/>
            <a:ext cx="7335578" cy="3312368"/>
          </a:xfrm>
          <a:prstGeom prst="rect">
            <a:avLst/>
          </a:prstGeom>
        </p:spPr>
      </p:pic>
    </p:spTree>
    <p:extLst>
      <p:ext uri="{BB962C8B-B14F-4D97-AF65-F5344CB8AC3E}">
        <p14:creationId xmlns:p14="http://schemas.microsoft.com/office/powerpoint/2010/main" val="26637571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67544" y="404664"/>
            <a:ext cx="6345007" cy="461665"/>
          </a:xfrm>
          <a:prstGeom prst="rect">
            <a:avLst/>
          </a:prstGeom>
        </p:spPr>
        <p:txBody>
          <a:bodyPr wrap="none">
            <a:spAutoFit/>
          </a:bodyPr>
          <a:lstStyle/>
          <a:p>
            <a:r>
              <a:rPr lang="en-US" sz="2400" b="1" dirty="0" smtClean="0"/>
              <a:t>b) Z-Score </a:t>
            </a:r>
            <a:r>
              <a:rPr lang="en-US" sz="2400" b="1" dirty="0"/>
              <a:t>Normalization (Standardization)</a:t>
            </a:r>
            <a:endParaRPr lang="en-US" sz="2400" dirty="0"/>
          </a:p>
        </p:txBody>
      </p:sp>
      <p:pic>
        <p:nvPicPr>
          <p:cNvPr id="3" name="Picture 2"/>
          <p:cNvPicPr>
            <a:picLocks noChangeAspect="1"/>
          </p:cNvPicPr>
          <p:nvPr/>
        </p:nvPicPr>
        <p:blipFill>
          <a:blip r:embed="rId2"/>
          <a:stretch>
            <a:fillRect/>
          </a:stretch>
        </p:blipFill>
        <p:spPr>
          <a:xfrm>
            <a:off x="162143" y="1340768"/>
            <a:ext cx="6955808" cy="3600400"/>
          </a:xfrm>
          <a:prstGeom prst="rect">
            <a:avLst/>
          </a:prstGeom>
        </p:spPr>
      </p:pic>
    </p:spTree>
    <p:extLst>
      <p:ext uri="{BB962C8B-B14F-4D97-AF65-F5344CB8AC3E}">
        <p14:creationId xmlns:p14="http://schemas.microsoft.com/office/powerpoint/2010/main" val="297267733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467" y="331537"/>
            <a:ext cx="6615691" cy="708688"/>
          </a:xfrm>
        </p:spPr>
        <p:txBody>
          <a:bodyPr>
            <a:normAutofit/>
          </a:bodyPr>
          <a:lstStyle/>
          <a:p>
            <a:pPr algn="ctr"/>
            <a:r>
              <a:rPr lang="en-US" sz="3600" b="1" dirty="0"/>
              <a:t>Eigenvalues and </a:t>
            </a:r>
            <a:r>
              <a:rPr lang="en-US" sz="3600" b="1" dirty="0" smtClean="0"/>
              <a:t>Eigenvectors</a:t>
            </a:r>
            <a:endParaRPr lang="en-US" sz="3600" dirty="0"/>
          </a:p>
        </p:txBody>
      </p:sp>
      <p:sp>
        <p:nvSpPr>
          <p:cNvPr id="3" name="Rectangle 2"/>
          <p:cNvSpPr/>
          <p:nvPr/>
        </p:nvSpPr>
        <p:spPr>
          <a:xfrm>
            <a:off x="-26801" y="1265116"/>
            <a:ext cx="7479121" cy="1938992"/>
          </a:xfrm>
          <a:prstGeom prst="rect">
            <a:avLst/>
          </a:prstGeom>
        </p:spPr>
        <p:txBody>
          <a:bodyPr wrap="square">
            <a:spAutoFit/>
          </a:bodyPr>
          <a:lstStyle/>
          <a:p>
            <a:pPr marL="285750" indent="-285750">
              <a:lnSpc>
                <a:spcPct val="150000"/>
              </a:lnSpc>
              <a:buFont typeface="Wingdings" panose="05000000000000000000" pitchFamily="2" charset="2"/>
              <a:buChar char="Ø"/>
            </a:pPr>
            <a:r>
              <a:rPr lang="en-US" sz="2000" b="1" dirty="0"/>
              <a:t>Eigenvalues</a:t>
            </a:r>
            <a:r>
              <a:rPr lang="en-US" sz="2000" dirty="0"/>
              <a:t> and </a:t>
            </a:r>
            <a:r>
              <a:rPr lang="en-US" sz="2000" b="1" dirty="0"/>
              <a:t>eigenvectors</a:t>
            </a:r>
            <a:r>
              <a:rPr lang="en-US" sz="2000" dirty="0"/>
              <a:t> are fundamental concepts in linear algebra, and they play a crucial role in </a:t>
            </a:r>
            <a:r>
              <a:rPr lang="en-US" sz="2000" dirty="0" smtClean="0"/>
              <a:t>data </a:t>
            </a:r>
            <a:r>
              <a:rPr lang="en-US" sz="2000" dirty="0"/>
              <a:t>science, </a:t>
            </a:r>
            <a:r>
              <a:rPr lang="en-US" sz="2000" dirty="0" smtClean="0"/>
              <a:t>as </a:t>
            </a:r>
            <a:r>
              <a:rPr lang="en-US" sz="2000" dirty="0"/>
              <a:t>dimensionality reduction (e.g., Principal Component Analysis, or PCA), stability </a:t>
            </a:r>
            <a:r>
              <a:rPr lang="en-US" sz="2000" dirty="0" smtClean="0"/>
              <a:t>analysis</a:t>
            </a:r>
            <a:r>
              <a:rPr lang="en-US" sz="2000" dirty="0"/>
              <a:t>.</a:t>
            </a:r>
          </a:p>
        </p:txBody>
      </p:sp>
      <p:pic>
        <p:nvPicPr>
          <p:cNvPr id="4" name="Picture 3"/>
          <p:cNvPicPr>
            <a:picLocks noChangeAspect="1"/>
          </p:cNvPicPr>
          <p:nvPr/>
        </p:nvPicPr>
        <p:blipFill>
          <a:blip r:embed="rId2"/>
          <a:stretch>
            <a:fillRect/>
          </a:stretch>
        </p:blipFill>
        <p:spPr>
          <a:xfrm>
            <a:off x="284373" y="3445742"/>
            <a:ext cx="7023931" cy="2749680"/>
          </a:xfrm>
          <a:prstGeom prst="rect">
            <a:avLst/>
          </a:prstGeom>
        </p:spPr>
      </p:pic>
    </p:spTree>
    <p:extLst>
      <p:ext uri="{BB962C8B-B14F-4D97-AF65-F5344CB8AC3E}">
        <p14:creationId xmlns:p14="http://schemas.microsoft.com/office/powerpoint/2010/main" val="238474434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stretch>
            <a:fillRect/>
          </a:stretch>
        </p:blipFill>
        <p:spPr>
          <a:xfrm>
            <a:off x="107504" y="332656"/>
            <a:ext cx="8136904" cy="4056722"/>
          </a:xfrm>
          <a:prstGeom prst="rect">
            <a:avLst/>
          </a:prstGeom>
        </p:spPr>
      </p:pic>
    </p:spTree>
    <p:extLst>
      <p:ext uri="{BB962C8B-B14F-4D97-AF65-F5344CB8AC3E}">
        <p14:creationId xmlns:p14="http://schemas.microsoft.com/office/powerpoint/2010/main" val="316181807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323528" y="332656"/>
            <a:ext cx="6652741" cy="5747458"/>
          </a:xfrm>
          <a:prstGeom prst="rect">
            <a:avLst/>
          </a:prstGeom>
        </p:spPr>
      </p:pic>
      <p:sp>
        <p:nvSpPr>
          <p:cNvPr id="3" name="Rectangle 2"/>
          <p:cNvSpPr/>
          <p:nvPr/>
        </p:nvSpPr>
        <p:spPr>
          <a:xfrm>
            <a:off x="1763688" y="6165304"/>
            <a:ext cx="4752528" cy="369332"/>
          </a:xfrm>
          <a:prstGeom prst="rect">
            <a:avLst/>
          </a:prstGeom>
        </p:spPr>
        <p:txBody>
          <a:bodyPr wrap="square">
            <a:spAutoFit/>
          </a:bodyPr>
          <a:lstStyle/>
          <a:p>
            <a:r>
              <a:rPr lang="en-US" dirty="0" smtClean="0">
                <a:latin typeface="Segoe UI" panose="020B0502040204020203" pitchFamily="34" charset="0"/>
              </a:rPr>
              <a:t>X =  (-</a:t>
            </a:r>
            <a:r>
              <a:rPr lang="en-US" dirty="0">
                <a:latin typeface="Segoe UI" panose="020B0502040204020203" pitchFamily="34" charset="0"/>
              </a:rPr>
              <a:t>b +- √(b^2 - </a:t>
            </a:r>
            <a:r>
              <a:rPr lang="en-US" dirty="0" smtClean="0">
                <a:latin typeface="Segoe UI" panose="020B0502040204020203" pitchFamily="34" charset="0"/>
              </a:rPr>
              <a:t>4ac ))/2a</a:t>
            </a:r>
            <a:endParaRPr lang="en-US" dirty="0"/>
          </a:p>
        </p:txBody>
      </p:sp>
    </p:spTree>
    <p:extLst>
      <p:ext uri="{BB962C8B-B14F-4D97-AF65-F5344CB8AC3E}">
        <p14:creationId xmlns:p14="http://schemas.microsoft.com/office/powerpoint/2010/main" val="106404609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467544" y="548680"/>
            <a:ext cx="6336704" cy="5549661"/>
          </a:xfrm>
          <a:prstGeom prst="rect">
            <a:avLst/>
          </a:prstGeom>
        </p:spPr>
      </p:pic>
    </p:spTree>
    <p:extLst>
      <p:ext uri="{BB962C8B-B14F-4D97-AF65-F5344CB8AC3E}">
        <p14:creationId xmlns:p14="http://schemas.microsoft.com/office/powerpoint/2010/main" val="381467207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51520" y="980728"/>
            <a:ext cx="7028320" cy="3672408"/>
          </a:xfrm>
          <a:prstGeom prst="rect">
            <a:avLst/>
          </a:prstGeom>
        </p:spPr>
      </p:pic>
    </p:spTree>
    <p:extLst>
      <p:ext uri="{BB962C8B-B14F-4D97-AF65-F5344CB8AC3E}">
        <p14:creationId xmlns:p14="http://schemas.microsoft.com/office/powerpoint/2010/main" val="390964517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395536" y="476672"/>
            <a:ext cx="6192688" cy="5306165"/>
          </a:xfrm>
          <a:prstGeom prst="rect">
            <a:avLst/>
          </a:prstGeom>
        </p:spPr>
      </p:pic>
    </p:spTree>
    <p:extLst>
      <p:ext uri="{BB962C8B-B14F-4D97-AF65-F5344CB8AC3E}">
        <p14:creationId xmlns:p14="http://schemas.microsoft.com/office/powerpoint/2010/main" val="78483439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07504" y="548680"/>
            <a:ext cx="7061008" cy="4032448"/>
          </a:xfrm>
          <a:prstGeom prst="rect">
            <a:avLst/>
          </a:prstGeom>
        </p:spPr>
      </p:pic>
      <p:pic>
        <p:nvPicPr>
          <p:cNvPr id="3" name="Picture 2"/>
          <p:cNvPicPr>
            <a:picLocks noChangeAspect="1"/>
          </p:cNvPicPr>
          <p:nvPr/>
        </p:nvPicPr>
        <p:blipFill>
          <a:blip r:embed="rId3"/>
          <a:stretch>
            <a:fillRect/>
          </a:stretch>
        </p:blipFill>
        <p:spPr>
          <a:xfrm>
            <a:off x="323528" y="4797152"/>
            <a:ext cx="7741368" cy="1728192"/>
          </a:xfrm>
          <a:prstGeom prst="rect">
            <a:avLst/>
          </a:prstGeom>
        </p:spPr>
      </p:pic>
    </p:spTree>
    <p:extLst>
      <p:ext uri="{BB962C8B-B14F-4D97-AF65-F5344CB8AC3E}">
        <p14:creationId xmlns:p14="http://schemas.microsoft.com/office/powerpoint/2010/main" val="70444091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67544" y="620688"/>
            <a:ext cx="6347714" cy="3880773"/>
          </a:xfrm>
        </p:spPr>
        <p:txBody>
          <a:bodyPr/>
          <a:lstStyle/>
          <a:p>
            <a:pPr>
              <a:buFont typeface="Wingdings" panose="05000000000000000000" pitchFamily="2" charset="2"/>
              <a:buChar char="Ø"/>
            </a:pPr>
            <a:r>
              <a:rPr lang="en-US" sz="2800" b="1" dirty="0" smtClean="0"/>
              <a:t>Eigenvectors:</a:t>
            </a:r>
          </a:p>
          <a:p>
            <a:pPr lvl="1">
              <a:buFont typeface="Wingdings" panose="05000000000000000000" pitchFamily="2" charset="2"/>
              <a:buChar char="Ø"/>
            </a:pPr>
            <a:r>
              <a:rPr lang="en-US" dirty="0" smtClean="0"/>
              <a:t>Vector that don't rotate after linear transformation but they can be scaled.</a:t>
            </a:r>
          </a:p>
          <a:p>
            <a:pPr marL="246063" lvl="1" indent="-246063">
              <a:buFont typeface="Wingdings" panose="05000000000000000000" pitchFamily="2" charset="2"/>
              <a:buChar char="Ø"/>
            </a:pPr>
            <a:r>
              <a:rPr lang="en-US" sz="2800" b="1" dirty="0"/>
              <a:t>Eigenvalues</a:t>
            </a:r>
            <a:r>
              <a:rPr lang="en-US" sz="2800" b="1" dirty="0" smtClean="0"/>
              <a:t>:</a:t>
            </a:r>
          </a:p>
          <a:p>
            <a:pPr marL="520383" lvl="2" indent="-246063">
              <a:buFont typeface="Wingdings" panose="05000000000000000000" pitchFamily="2" charset="2"/>
              <a:buChar char="Ø"/>
            </a:pPr>
            <a:r>
              <a:rPr lang="en-US" sz="2500" dirty="0" smtClean="0"/>
              <a:t>The value by which vector get scaled</a:t>
            </a:r>
            <a:endParaRPr lang="en-US" sz="2500" dirty="0"/>
          </a:p>
          <a:p>
            <a:pPr lvl="1">
              <a:buFont typeface="Wingdings" panose="05000000000000000000" pitchFamily="2" charset="2"/>
              <a:buChar char="Ø"/>
            </a:pPr>
            <a:r>
              <a:rPr lang="en-US" dirty="0">
                <a:hlinkClick r:id="rId2"/>
              </a:rPr>
              <a:t>Eigenvalues and eigenvectors - Wikipedia</a:t>
            </a:r>
            <a:endParaRPr lang="en-US" dirty="0" smtClean="0"/>
          </a:p>
          <a:p>
            <a:pPr>
              <a:buFont typeface="Wingdings" panose="05000000000000000000" pitchFamily="2" charset="2"/>
              <a:buChar char="Ø"/>
            </a:pPr>
            <a:endParaRPr lang="en-US" dirty="0"/>
          </a:p>
        </p:txBody>
      </p:sp>
    </p:spTree>
    <p:extLst>
      <p:ext uri="{BB962C8B-B14F-4D97-AF65-F5344CB8AC3E}">
        <p14:creationId xmlns:p14="http://schemas.microsoft.com/office/powerpoint/2010/main" val="285914762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stretch>
            <a:fillRect/>
          </a:stretch>
        </p:blipFill>
        <p:spPr>
          <a:xfrm>
            <a:off x="415218" y="1097280"/>
            <a:ext cx="6189037" cy="4329034"/>
          </a:xfrm>
          <a:prstGeom prst="rect">
            <a:avLst/>
          </a:prstGeom>
        </p:spPr>
      </p:pic>
    </p:spTree>
    <p:extLst>
      <p:ext uri="{BB962C8B-B14F-4D97-AF65-F5344CB8AC3E}">
        <p14:creationId xmlns:p14="http://schemas.microsoft.com/office/powerpoint/2010/main" val="159009952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58903" y="1400402"/>
            <a:ext cx="7265425" cy="2748678"/>
          </a:xfrm>
          <a:prstGeom prst="rect">
            <a:avLst/>
          </a:prstGeom>
        </p:spPr>
      </p:pic>
    </p:spTree>
    <p:extLst>
      <p:ext uri="{BB962C8B-B14F-4D97-AF65-F5344CB8AC3E}">
        <p14:creationId xmlns:p14="http://schemas.microsoft.com/office/powerpoint/2010/main" val="421029654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332656"/>
            <a:ext cx="7058745" cy="1320800"/>
          </a:xfrm>
        </p:spPr>
        <p:txBody>
          <a:bodyPr>
            <a:normAutofit fontScale="90000"/>
          </a:bodyPr>
          <a:lstStyle/>
          <a:p>
            <a:r>
              <a:rPr lang="en-US" b="1" dirty="0"/>
              <a:t>Example in HR Analytics: Employee Performance Evaluation</a:t>
            </a:r>
          </a:p>
        </p:txBody>
      </p:sp>
      <p:pic>
        <p:nvPicPr>
          <p:cNvPr id="4" name="Picture 3"/>
          <p:cNvPicPr>
            <a:picLocks noChangeAspect="1"/>
          </p:cNvPicPr>
          <p:nvPr/>
        </p:nvPicPr>
        <p:blipFill>
          <a:blip r:embed="rId2"/>
          <a:stretch>
            <a:fillRect/>
          </a:stretch>
        </p:blipFill>
        <p:spPr>
          <a:xfrm>
            <a:off x="179512" y="1916832"/>
            <a:ext cx="7344816" cy="2520280"/>
          </a:xfrm>
          <a:prstGeom prst="rect">
            <a:avLst/>
          </a:prstGeom>
        </p:spPr>
      </p:pic>
    </p:spTree>
    <p:extLst>
      <p:ext uri="{BB962C8B-B14F-4D97-AF65-F5344CB8AC3E}">
        <p14:creationId xmlns:p14="http://schemas.microsoft.com/office/powerpoint/2010/main" val="266258977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540" y="404664"/>
            <a:ext cx="7291764" cy="1320800"/>
          </a:xfrm>
        </p:spPr>
        <p:txBody>
          <a:bodyPr/>
          <a:lstStyle/>
          <a:p>
            <a:r>
              <a:rPr lang="en-US" b="1" dirty="0"/>
              <a:t>Step </a:t>
            </a:r>
            <a:r>
              <a:rPr lang="en-US" b="1" dirty="0" smtClean="0"/>
              <a:t>1: </a:t>
            </a:r>
            <a:r>
              <a:rPr lang="en-US" b="1" dirty="0"/>
              <a:t>Represent HR Data as a Matrix</a:t>
            </a:r>
          </a:p>
        </p:txBody>
      </p:sp>
      <p:pic>
        <p:nvPicPr>
          <p:cNvPr id="6" name="Picture 5"/>
          <p:cNvPicPr>
            <a:picLocks noChangeAspect="1"/>
          </p:cNvPicPr>
          <p:nvPr/>
        </p:nvPicPr>
        <p:blipFill>
          <a:blip r:embed="rId2"/>
          <a:stretch>
            <a:fillRect/>
          </a:stretch>
        </p:blipFill>
        <p:spPr>
          <a:xfrm>
            <a:off x="179512" y="2492896"/>
            <a:ext cx="7260808" cy="2088232"/>
          </a:xfrm>
          <a:prstGeom prst="rect">
            <a:avLst/>
          </a:prstGeom>
        </p:spPr>
      </p:pic>
    </p:spTree>
    <p:extLst>
      <p:ext uri="{BB962C8B-B14F-4D97-AF65-F5344CB8AC3E}">
        <p14:creationId xmlns:p14="http://schemas.microsoft.com/office/powerpoint/2010/main" val="43102427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539552" y="548680"/>
            <a:ext cx="5934903" cy="4191585"/>
          </a:xfrm>
          <a:prstGeom prst="rect">
            <a:avLst/>
          </a:prstGeom>
        </p:spPr>
      </p:pic>
    </p:spTree>
    <p:extLst>
      <p:ext uri="{BB962C8B-B14F-4D97-AF65-F5344CB8AC3E}">
        <p14:creationId xmlns:p14="http://schemas.microsoft.com/office/powerpoint/2010/main" val="228658617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3528" y="260648"/>
            <a:ext cx="6347713" cy="1320800"/>
          </a:xfrm>
        </p:spPr>
        <p:txBody>
          <a:bodyPr/>
          <a:lstStyle/>
          <a:p>
            <a:r>
              <a:rPr lang="en-US" b="1" dirty="0"/>
              <a:t>Step </a:t>
            </a:r>
            <a:r>
              <a:rPr lang="en-US" b="1" dirty="0" smtClean="0"/>
              <a:t>2: </a:t>
            </a:r>
            <a:r>
              <a:rPr lang="en-US" b="1" dirty="0"/>
              <a:t>Why We MUST Scale (Very Important)</a:t>
            </a:r>
          </a:p>
        </p:txBody>
      </p:sp>
      <p:sp>
        <p:nvSpPr>
          <p:cNvPr id="3" name="Content Placeholder 2"/>
          <p:cNvSpPr>
            <a:spLocks noGrp="1"/>
          </p:cNvSpPr>
          <p:nvPr>
            <p:ph idx="1"/>
          </p:nvPr>
        </p:nvSpPr>
        <p:spPr>
          <a:xfrm>
            <a:off x="611560" y="1700808"/>
            <a:ext cx="6347714" cy="2204514"/>
          </a:xfrm>
        </p:spPr>
        <p:txBody>
          <a:bodyPr/>
          <a:lstStyle/>
          <a:p>
            <a:r>
              <a:rPr lang="en-US" dirty="0"/>
              <a:t>These metrics are on </a:t>
            </a:r>
            <a:r>
              <a:rPr lang="en-US" b="1" dirty="0"/>
              <a:t>different units</a:t>
            </a:r>
            <a:r>
              <a:rPr lang="en-US" dirty="0"/>
              <a:t>:</a:t>
            </a:r>
          </a:p>
          <a:p>
            <a:r>
              <a:rPr lang="en-US" dirty="0"/>
              <a:t>Skill → 0–100</a:t>
            </a:r>
          </a:p>
          <a:p>
            <a:r>
              <a:rPr lang="en-US" dirty="0"/>
              <a:t>Time → minutes</a:t>
            </a:r>
          </a:p>
          <a:p>
            <a:r>
              <a:rPr lang="en-US" dirty="0"/>
              <a:t>Satisfaction → 0–10</a:t>
            </a:r>
          </a:p>
          <a:p>
            <a:r>
              <a:rPr lang="en-US" dirty="0"/>
              <a:t>If we don’t scale → </a:t>
            </a:r>
            <a:r>
              <a:rPr lang="en-US" b="1" dirty="0"/>
              <a:t>Task Time dominates</a:t>
            </a:r>
            <a:endParaRPr lang="en-US" dirty="0"/>
          </a:p>
        </p:txBody>
      </p:sp>
      <p:pic>
        <p:nvPicPr>
          <p:cNvPr id="4" name="Picture 3"/>
          <p:cNvPicPr>
            <a:picLocks noChangeAspect="1"/>
          </p:cNvPicPr>
          <p:nvPr/>
        </p:nvPicPr>
        <p:blipFill>
          <a:blip r:embed="rId2"/>
          <a:stretch>
            <a:fillRect/>
          </a:stretch>
        </p:blipFill>
        <p:spPr>
          <a:xfrm>
            <a:off x="1043608" y="4024682"/>
            <a:ext cx="5239481" cy="2162477"/>
          </a:xfrm>
          <a:prstGeom prst="rect">
            <a:avLst/>
          </a:prstGeom>
        </p:spPr>
      </p:pic>
    </p:spTree>
    <p:extLst>
      <p:ext uri="{BB962C8B-B14F-4D97-AF65-F5344CB8AC3E}">
        <p14:creationId xmlns:p14="http://schemas.microsoft.com/office/powerpoint/2010/main" val="41251103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3128" y="188640"/>
            <a:ext cx="7260653" cy="1320800"/>
          </a:xfrm>
        </p:spPr>
        <p:txBody>
          <a:bodyPr/>
          <a:lstStyle/>
          <a:p>
            <a:r>
              <a:rPr lang="en-US" b="1" dirty="0"/>
              <a:t>Step </a:t>
            </a:r>
            <a:r>
              <a:rPr lang="en-US" b="1" dirty="0" smtClean="0"/>
              <a:t>3: </a:t>
            </a:r>
            <a:r>
              <a:rPr lang="en-US" b="1" dirty="0"/>
              <a:t>Covariance Matrix (THIS is the square matrix)</a:t>
            </a:r>
          </a:p>
        </p:txBody>
      </p:sp>
      <p:pic>
        <p:nvPicPr>
          <p:cNvPr id="6" name="Picture 5"/>
          <p:cNvPicPr>
            <a:picLocks noChangeAspect="1"/>
          </p:cNvPicPr>
          <p:nvPr/>
        </p:nvPicPr>
        <p:blipFill>
          <a:blip r:embed="rId2"/>
          <a:stretch>
            <a:fillRect/>
          </a:stretch>
        </p:blipFill>
        <p:spPr>
          <a:xfrm>
            <a:off x="138120" y="1628800"/>
            <a:ext cx="7260654" cy="864096"/>
          </a:xfrm>
          <a:prstGeom prst="rect">
            <a:avLst/>
          </a:prstGeom>
        </p:spPr>
      </p:pic>
      <p:pic>
        <p:nvPicPr>
          <p:cNvPr id="7" name="Picture 6"/>
          <p:cNvPicPr>
            <a:picLocks noChangeAspect="1"/>
          </p:cNvPicPr>
          <p:nvPr/>
        </p:nvPicPr>
        <p:blipFill>
          <a:blip r:embed="rId3"/>
          <a:stretch>
            <a:fillRect/>
          </a:stretch>
        </p:blipFill>
        <p:spPr>
          <a:xfrm>
            <a:off x="1115616" y="2924944"/>
            <a:ext cx="5155773" cy="1224136"/>
          </a:xfrm>
          <a:prstGeom prst="rect">
            <a:avLst/>
          </a:prstGeom>
        </p:spPr>
      </p:pic>
    </p:spTree>
    <p:extLst>
      <p:ext uri="{BB962C8B-B14F-4D97-AF65-F5344CB8AC3E}">
        <p14:creationId xmlns:p14="http://schemas.microsoft.com/office/powerpoint/2010/main" val="1485987736"/>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3528" y="0"/>
            <a:ext cx="6347713" cy="1320800"/>
          </a:xfrm>
        </p:spPr>
        <p:txBody>
          <a:bodyPr>
            <a:normAutofit fontScale="90000"/>
          </a:bodyPr>
          <a:lstStyle/>
          <a:p>
            <a:r>
              <a:rPr lang="en-US" b="1" dirty="0"/>
              <a:t>Step </a:t>
            </a:r>
            <a:r>
              <a:rPr lang="en-US" b="1" dirty="0" smtClean="0"/>
              <a:t>4: Eigenvectors </a:t>
            </a:r>
            <a:r>
              <a:rPr lang="en-US" b="1" dirty="0"/>
              <a:t>&amp; Eigenvalues (CORE CONCEPT)</a:t>
            </a:r>
          </a:p>
        </p:txBody>
      </p:sp>
      <p:pic>
        <p:nvPicPr>
          <p:cNvPr id="5" name="Picture 4"/>
          <p:cNvPicPr>
            <a:picLocks noChangeAspect="1"/>
          </p:cNvPicPr>
          <p:nvPr/>
        </p:nvPicPr>
        <p:blipFill>
          <a:blip r:embed="rId2"/>
          <a:stretch>
            <a:fillRect/>
          </a:stretch>
        </p:blipFill>
        <p:spPr>
          <a:xfrm>
            <a:off x="323528" y="1349083"/>
            <a:ext cx="7128792" cy="2616291"/>
          </a:xfrm>
          <a:prstGeom prst="rect">
            <a:avLst/>
          </a:prstGeom>
        </p:spPr>
      </p:pic>
      <p:pic>
        <p:nvPicPr>
          <p:cNvPr id="6" name="Picture 5"/>
          <p:cNvPicPr>
            <a:picLocks noChangeAspect="1"/>
          </p:cNvPicPr>
          <p:nvPr/>
        </p:nvPicPr>
        <p:blipFill>
          <a:blip r:embed="rId3"/>
          <a:stretch>
            <a:fillRect/>
          </a:stretch>
        </p:blipFill>
        <p:spPr>
          <a:xfrm>
            <a:off x="917338" y="4365104"/>
            <a:ext cx="5753903" cy="1076475"/>
          </a:xfrm>
          <a:prstGeom prst="rect">
            <a:avLst/>
          </a:prstGeom>
        </p:spPr>
      </p:pic>
    </p:spTree>
    <p:extLst>
      <p:ext uri="{BB962C8B-B14F-4D97-AF65-F5344CB8AC3E}">
        <p14:creationId xmlns:p14="http://schemas.microsoft.com/office/powerpoint/2010/main" val="367360324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79512" y="692696"/>
            <a:ext cx="6690761" cy="3744416"/>
          </a:xfrm>
          <a:prstGeom prst="rect">
            <a:avLst/>
          </a:prstGeom>
        </p:spPr>
      </p:pic>
    </p:spTree>
    <p:extLst>
      <p:ext uri="{BB962C8B-B14F-4D97-AF65-F5344CB8AC3E}">
        <p14:creationId xmlns:p14="http://schemas.microsoft.com/office/powerpoint/2010/main" val="2234462654"/>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75156"/>
            <a:ext cx="7236296" cy="1320800"/>
          </a:xfrm>
        </p:spPr>
        <p:txBody>
          <a:bodyPr/>
          <a:lstStyle/>
          <a:p>
            <a:r>
              <a:rPr lang="en-US" b="1" dirty="0" smtClean="0"/>
              <a:t>Step 5: </a:t>
            </a:r>
            <a:r>
              <a:rPr lang="en-US" b="1" dirty="0"/>
              <a:t>What Eigenvectors Mean (HR Interpretation)</a:t>
            </a:r>
          </a:p>
        </p:txBody>
      </p:sp>
      <p:graphicFrame>
        <p:nvGraphicFramePr>
          <p:cNvPr id="4" name="Table 3"/>
          <p:cNvGraphicFramePr>
            <a:graphicFrameLocks noGrp="1"/>
          </p:cNvGraphicFramePr>
          <p:nvPr>
            <p:extLst>
              <p:ext uri="{D42A27DB-BD31-4B8C-83A1-F6EECF244321}">
                <p14:modId xmlns:p14="http://schemas.microsoft.com/office/powerpoint/2010/main" val="2457906754"/>
              </p:ext>
            </p:extLst>
          </p:nvPr>
        </p:nvGraphicFramePr>
        <p:xfrm>
          <a:off x="161764" y="1430802"/>
          <a:ext cx="6912768" cy="3528394"/>
        </p:xfrm>
        <a:graphic>
          <a:graphicData uri="http://schemas.openxmlformats.org/drawingml/2006/table">
            <a:tbl>
              <a:tblPr/>
              <a:tblGrid>
                <a:gridCol w="1745940"/>
                <a:gridCol w="5166828"/>
              </a:tblGrid>
              <a:tr h="542830">
                <a:tc>
                  <a:txBody>
                    <a:bodyPr/>
                    <a:lstStyle/>
                    <a:p>
                      <a:r>
                        <a:rPr lang="en-US" sz="1800" b="1" dirty="0"/>
                        <a:t>Eigenvector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b="1" dirty="0"/>
                        <a:t>Meaning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949952">
                <a:tc>
                  <a:txBody>
                    <a:bodyPr/>
                    <a:lstStyle/>
                    <a:p>
                      <a:r>
                        <a:rPr lang="en-US" sz="1800" dirty="0"/>
                        <a:t>PC1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a:t>Overall performance (skill + satisfaction + collaboration)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542830">
                <a:tc>
                  <a:txBody>
                    <a:bodyPr/>
                    <a:lstStyle/>
                    <a:p>
                      <a:r>
                        <a:rPr lang="en-US" sz="1800" dirty="0"/>
                        <a:t>PC2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dirty="0"/>
                        <a:t>Efficiency vs skill tradeoff</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949952">
                <a:tc>
                  <a:txBody>
                    <a:bodyPr/>
                    <a:lstStyle/>
                    <a:p>
                      <a:r>
                        <a:rPr lang="en-US" sz="1800"/>
                        <a:t>PC3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dirty="0"/>
                        <a:t>Team vs individual orientation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542830">
                <a:tc>
                  <a:txBody>
                    <a:bodyPr/>
                    <a:lstStyle/>
                    <a:p>
                      <a:r>
                        <a:rPr lang="en-US" sz="1800"/>
                        <a:t>PC4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dirty="0"/>
                        <a:t>Minor variation (noise)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2771695676"/>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963" y="188640"/>
            <a:ext cx="7584838" cy="1320800"/>
          </a:xfrm>
        </p:spPr>
        <p:txBody>
          <a:bodyPr/>
          <a:lstStyle/>
          <a:p>
            <a:r>
              <a:rPr lang="en-US" b="1" dirty="0"/>
              <a:t>Step </a:t>
            </a:r>
            <a:r>
              <a:rPr lang="en-US" b="1" dirty="0" smtClean="0"/>
              <a:t>6: </a:t>
            </a:r>
            <a:r>
              <a:rPr lang="en-US" b="1" dirty="0"/>
              <a:t>Eigenvalues = Importance</a:t>
            </a:r>
          </a:p>
        </p:txBody>
      </p:sp>
      <p:sp>
        <p:nvSpPr>
          <p:cNvPr id="3" name="Content Placeholder 2"/>
          <p:cNvSpPr>
            <a:spLocks noGrp="1"/>
          </p:cNvSpPr>
          <p:nvPr>
            <p:ph idx="1"/>
          </p:nvPr>
        </p:nvSpPr>
        <p:spPr>
          <a:xfrm>
            <a:off x="479532" y="3645024"/>
            <a:ext cx="6347714" cy="2048451"/>
          </a:xfrm>
        </p:spPr>
        <p:txBody>
          <a:bodyPr/>
          <a:lstStyle/>
          <a:p>
            <a:r>
              <a:rPr lang="en-US" b="1" dirty="0"/>
              <a:t>Meaning</a:t>
            </a:r>
          </a:p>
          <a:p>
            <a:r>
              <a:rPr lang="en-US" dirty="0"/>
              <a:t>PC1 explains </a:t>
            </a:r>
            <a:r>
              <a:rPr lang="en-US" b="1" dirty="0"/>
              <a:t>62%</a:t>
            </a:r>
            <a:r>
              <a:rPr lang="en-US" dirty="0"/>
              <a:t> of performance variation</a:t>
            </a:r>
          </a:p>
          <a:p>
            <a:r>
              <a:rPr lang="en-US" dirty="0"/>
              <a:t>PC2 explains </a:t>
            </a:r>
            <a:r>
              <a:rPr lang="en-US" b="1" dirty="0"/>
              <a:t>23%</a:t>
            </a:r>
            <a:endParaRPr lang="en-US" dirty="0"/>
          </a:p>
          <a:p>
            <a:r>
              <a:rPr lang="en-US" dirty="0"/>
              <a:t>Others add little value</a:t>
            </a:r>
          </a:p>
          <a:p>
            <a:endParaRPr lang="en-US" dirty="0"/>
          </a:p>
        </p:txBody>
      </p:sp>
      <p:pic>
        <p:nvPicPr>
          <p:cNvPr id="4" name="Picture 3"/>
          <p:cNvPicPr>
            <a:picLocks noChangeAspect="1"/>
          </p:cNvPicPr>
          <p:nvPr/>
        </p:nvPicPr>
        <p:blipFill>
          <a:blip r:embed="rId2"/>
          <a:stretch>
            <a:fillRect/>
          </a:stretch>
        </p:blipFill>
        <p:spPr>
          <a:xfrm>
            <a:off x="323528" y="868079"/>
            <a:ext cx="6624736" cy="2619741"/>
          </a:xfrm>
          <a:prstGeom prst="rect">
            <a:avLst/>
          </a:prstGeom>
        </p:spPr>
      </p:pic>
    </p:spTree>
    <p:extLst>
      <p:ext uri="{BB962C8B-B14F-4D97-AF65-F5344CB8AC3E}">
        <p14:creationId xmlns:p14="http://schemas.microsoft.com/office/powerpoint/2010/main" val="3573344234"/>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7504" y="188640"/>
            <a:ext cx="6408712" cy="1320800"/>
          </a:xfrm>
        </p:spPr>
        <p:txBody>
          <a:bodyPr/>
          <a:lstStyle/>
          <a:p>
            <a:r>
              <a:rPr lang="en-US" b="1" dirty="0" smtClean="0"/>
              <a:t>Step7️: </a:t>
            </a:r>
            <a:r>
              <a:rPr lang="en-US" b="1" dirty="0"/>
              <a:t>Sort Components by Importance</a:t>
            </a:r>
          </a:p>
        </p:txBody>
      </p:sp>
      <p:pic>
        <p:nvPicPr>
          <p:cNvPr id="4" name="Picture 3"/>
          <p:cNvPicPr>
            <a:picLocks noChangeAspect="1"/>
          </p:cNvPicPr>
          <p:nvPr/>
        </p:nvPicPr>
        <p:blipFill>
          <a:blip r:embed="rId2"/>
          <a:stretch>
            <a:fillRect/>
          </a:stretch>
        </p:blipFill>
        <p:spPr>
          <a:xfrm>
            <a:off x="539552" y="1844824"/>
            <a:ext cx="6480720" cy="3077665"/>
          </a:xfrm>
          <a:prstGeom prst="rect">
            <a:avLst/>
          </a:prstGeom>
        </p:spPr>
      </p:pic>
    </p:spTree>
    <p:extLst>
      <p:ext uri="{BB962C8B-B14F-4D97-AF65-F5344CB8AC3E}">
        <p14:creationId xmlns:p14="http://schemas.microsoft.com/office/powerpoint/2010/main" val="112752080"/>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Step </a:t>
            </a:r>
            <a:r>
              <a:rPr lang="en-US" b="1" dirty="0" smtClean="0"/>
              <a:t>8</a:t>
            </a:r>
            <a:r>
              <a:rPr lang="en-US" b="1" dirty="0"/>
              <a:t>:</a:t>
            </a:r>
            <a:r>
              <a:rPr lang="en-US" b="1" dirty="0" smtClean="0"/>
              <a:t> </a:t>
            </a:r>
            <a:r>
              <a:rPr lang="en-US" b="1" dirty="0"/>
              <a:t>Projection</a:t>
            </a:r>
          </a:p>
        </p:txBody>
      </p:sp>
      <p:pic>
        <p:nvPicPr>
          <p:cNvPr id="4" name="Picture 3"/>
          <p:cNvPicPr>
            <a:picLocks noChangeAspect="1"/>
          </p:cNvPicPr>
          <p:nvPr/>
        </p:nvPicPr>
        <p:blipFill>
          <a:blip r:embed="rId2"/>
          <a:stretch>
            <a:fillRect/>
          </a:stretch>
        </p:blipFill>
        <p:spPr>
          <a:xfrm>
            <a:off x="755576" y="1628800"/>
            <a:ext cx="5616624" cy="4047258"/>
          </a:xfrm>
          <a:prstGeom prst="rect">
            <a:avLst/>
          </a:prstGeom>
        </p:spPr>
      </p:pic>
    </p:spTree>
    <p:extLst>
      <p:ext uri="{BB962C8B-B14F-4D97-AF65-F5344CB8AC3E}">
        <p14:creationId xmlns:p14="http://schemas.microsoft.com/office/powerpoint/2010/main" val="3241876599"/>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5602" y="116632"/>
            <a:ext cx="6705792" cy="1320800"/>
          </a:xfrm>
        </p:spPr>
        <p:txBody>
          <a:bodyPr/>
          <a:lstStyle/>
          <a:p>
            <a:r>
              <a:rPr lang="en-US" b="1" dirty="0"/>
              <a:t>Step </a:t>
            </a:r>
            <a:r>
              <a:rPr lang="en-US" b="1" dirty="0" smtClean="0"/>
              <a:t>9</a:t>
            </a:r>
            <a:r>
              <a:rPr lang="en-US" b="1" dirty="0"/>
              <a:t>:</a:t>
            </a:r>
            <a:r>
              <a:rPr lang="en-US" b="1" dirty="0" smtClean="0"/>
              <a:t>Business </a:t>
            </a:r>
            <a:r>
              <a:rPr lang="en-US" b="1" dirty="0"/>
              <a:t>Meaning (Very Important)</a:t>
            </a:r>
          </a:p>
        </p:txBody>
      </p:sp>
      <p:pic>
        <p:nvPicPr>
          <p:cNvPr id="4" name="Picture 3"/>
          <p:cNvPicPr>
            <a:picLocks noChangeAspect="1"/>
          </p:cNvPicPr>
          <p:nvPr/>
        </p:nvPicPr>
        <p:blipFill>
          <a:blip r:embed="rId2"/>
          <a:stretch>
            <a:fillRect/>
          </a:stretch>
        </p:blipFill>
        <p:spPr>
          <a:xfrm>
            <a:off x="755576" y="1916832"/>
            <a:ext cx="4267796" cy="3753374"/>
          </a:xfrm>
          <a:prstGeom prst="rect">
            <a:avLst/>
          </a:prstGeom>
        </p:spPr>
      </p:pic>
    </p:spTree>
    <p:extLst>
      <p:ext uri="{BB962C8B-B14F-4D97-AF65-F5344CB8AC3E}">
        <p14:creationId xmlns:p14="http://schemas.microsoft.com/office/powerpoint/2010/main" val="2138101886"/>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861" y="498082"/>
            <a:ext cx="6347713" cy="1320800"/>
          </a:xfrm>
        </p:spPr>
        <p:txBody>
          <a:bodyPr/>
          <a:lstStyle/>
          <a:p>
            <a:r>
              <a:rPr lang="en-US" b="1" dirty="0"/>
              <a:t>Steps of PCA:</a:t>
            </a:r>
          </a:p>
        </p:txBody>
      </p:sp>
      <p:sp>
        <p:nvSpPr>
          <p:cNvPr id="3" name="Content Placeholder 2"/>
          <p:cNvSpPr>
            <a:spLocks noGrp="1"/>
          </p:cNvSpPr>
          <p:nvPr>
            <p:ph idx="1"/>
          </p:nvPr>
        </p:nvSpPr>
        <p:spPr>
          <a:xfrm>
            <a:off x="104861" y="1535197"/>
            <a:ext cx="7690422" cy="1157048"/>
          </a:xfrm>
        </p:spPr>
        <p:txBody>
          <a:bodyPr>
            <a:normAutofit fontScale="85000" lnSpcReduction="10000"/>
          </a:bodyPr>
          <a:lstStyle/>
          <a:p>
            <a:pPr>
              <a:lnSpc>
                <a:spcPct val="150000"/>
              </a:lnSpc>
            </a:pPr>
            <a:r>
              <a:rPr lang="en-US" dirty="0" smtClean="0"/>
              <a:t>In </a:t>
            </a:r>
            <a:r>
              <a:rPr lang="en-US" dirty="0"/>
              <a:t>PCA, if two variables (or data points) are at the same distance from the origin, their </a:t>
            </a:r>
            <a:r>
              <a:rPr lang="en-US" b="1" dirty="0"/>
              <a:t>significance</a:t>
            </a:r>
            <a:r>
              <a:rPr lang="en-US" dirty="0"/>
              <a:t> or </a:t>
            </a:r>
            <a:r>
              <a:rPr lang="en-US" b="1" dirty="0"/>
              <a:t>importance</a:t>
            </a:r>
            <a:r>
              <a:rPr lang="en-US" dirty="0"/>
              <a:t> is determined by the amount of </a:t>
            </a:r>
            <a:r>
              <a:rPr lang="en-US" b="1" dirty="0"/>
              <a:t>variance</a:t>
            </a:r>
            <a:r>
              <a:rPr lang="en-US" dirty="0"/>
              <a:t> they capture in the data, not just their distance from the origin.</a:t>
            </a:r>
          </a:p>
        </p:txBody>
      </p:sp>
      <p:sp>
        <p:nvSpPr>
          <p:cNvPr id="4" name="Content Placeholder 2"/>
          <p:cNvSpPr txBox="1">
            <a:spLocks/>
          </p:cNvSpPr>
          <p:nvPr/>
        </p:nvSpPr>
        <p:spPr>
          <a:xfrm>
            <a:off x="90186" y="3068960"/>
            <a:ext cx="7922181" cy="1488186"/>
          </a:xfrm>
          <a:prstGeom prst="rect">
            <a:avLst/>
          </a:prstGeom>
        </p:spPr>
        <p:txBody>
          <a:bodyPr vert="horz" lIns="68580" tIns="34290" rIns="68580" bIns="3429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US" sz="1350" b="1" dirty="0"/>
              <a:t>Step1: Standardization of Data(mean centering):</a:t>
            </a:r>
            <a:endParaRPr lang="en-US" sz="1350" dirty="0"/>
          </a:p>
          <a:p>
            <a:r>
              <a:rPr lang="en-US" sz="1350" dirty="0"/>
              <a:t>PCA requires the data to be standardized, meaning the mean of each feature is zero, and all features have unit variance. </a:t>
            </a:r>
          </a:p>
          <a:p>
            <a:r>
              <a:rPr lang="en-US" sz="1350" dirty="0"/>
              <a:t>This ensures that the PCA process treats each variable equally, regardless of its original scale.</a:t>
            </a:r>
          </a:p>
          <a:p>
            <a:endParaRPr lang="en-US" sz="1350" dirty="0"/>
          </a:p>
        </p:txBody>
      </p:sp>
    </p:spTree>
    <p:extLst>
      <p:ext uri="{BB962C8B-B14F-4D97-AF65-F5344CB8AC3E}">
        <p14:creationId xmlns:p14="http://schemas.microsoft.com/office/powerpoint/2010/main" val="3699875117"/>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a:spLocks noChangeArrowheads="1"/>
          </p:cNvSpPr>
          <p:nvPr/>
        </p:nvSpPr>
        <p:spPr bwMode="auto">
          <a:xfrm>
            <a:off x="22770" y="548680"/>
            <a:ext cx="7859900" cy="14427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anchor="ctr" anchorCtr="0" compatLnSpc="1">
            <a:prstTxWarp prst="textNoShape">
              <a:avLst/>
            </a:prstTxWarp>
            <a:spAutoFit/>
          </a:bodyPr>
          <a:lstStyle/>
          <a:p>
            <a:pPr marL="257175" indent="-257175" defTabSz="685800" eaLnBrk="0" fontAlgn="base" hangingPunct="0">
              <a:spcBef>
                <a:spcPct val="0"/>
              </a:spcBef>
              <a:spcAft>
                <a:spcPct val="0"/>
              </a:spcAft>
              <a:buFont typeface="Wingdings" panose="05000000000000000000" pitchFamily="2" charset="2"/>
              <a:buChar char="Ø"/>
            </a:pPr>
            <a:r>
              <a:rPr lang="en-US" altLang="en-US" sz="1500" b="1" dirty="0"/>
              <a:t>Step 2: Covariance Matrix:</a:t>
            </a:r>
          </a:p>
          <a:p>
            <a:pPr marL="257175" indent="-257175" defTabSz="685800" eaLnBrk="0" fontAlgn="base" hangingPunct="0">
              <a:lnSpc>
                <a:spcPct val="150000"/>
              </a:lnSpc>
              <a:spcBef>
                <a:spcPct val="0"/>
              </a:spcBef>
              <a:spcAft>
                <a:spcPct val="0"/>
              </a:spcAft>
              <a:buFont typeface="Wingdings" panose="05000000000000000000" pitchFamily="2" charset="2"/>
              <a:buChar char="Ø"/>
            </a:pPr>
            <a:r>
              <a:rPr lang="en-US" altLang="en-US" sz="1350" dirty="0"/>
              <a:t>PCA calculates the covariance matrix of the data, which describes how much each feature varies from the mean with respect to other features. </a:t>
            </a:r>
          </a:p>
          <a:p>
            <a:pPr marL="257175" indent="-257175" defTabSz="685800" eaLnBrk="0" fontAlgn="base" hangingPunct="0">
              <a:lnSpc>
                <a:spcPct val="150000"/>
              </a:lnSpc>
              <a:spcBef>
                <a:spcPct val="0"/>
              </a:spcBef>
              <a:spcAft>
                <a:spcPct val="0"/>
              </a:spcAft>
              <a:buFont typeface="Wingdings" panose="05000000000000000000" pitchFamily="2" charset="2"/>
              <a:buChar char="Ø"/>
            </a:pPr>
            <a:r>
              <a:rPr lang="en-US" altLang="en-US" sz="1350" dirty="0"/>
              <a:t>It essentially captures the relationships between the different dimensions of your data.</a:t>
            </a:r>
          </a:p>
          <a:p>
            <a:pPr defTabSz="685800" eaLnBrk="0" fontAlgn="base" hangingPunct="0">
              <a:spcBef>
                <a:spcPct val="0"/>
              </a:spcBef>
              <a:spcAft>
                <a:spcPct val="0"/>
              </a:spcAft>
            </a:pPr>
            <a:endParaRPr lang="en-US" altLang="en-US" sz="1350" dirty="0">
              <a:latin typeface="Arial" panose="020B0604020202020204" pitchFamily="34" charset="0"/>
            </a:endParaRPr>
          </a:p>
        </p:txBody>
      </p:sp>
      <p:pic>
        <p:nvPicPr>
          <p:cNvPr id="5" name="Picture 4"/>
          <p:cNvPicPr>
            <a:picLocks noChangeAspect="1"/>
          </p:cNvPicPr>
          <p:nvPr/>
        </p:nvPicPr>
        <p:blipFill>
          <a:blip r:embed="rId2"/>
          <a:stretch>
            <a:fillRect/>
          </a:stretch>
        </p:blipFill>
        <p:spPr>
          <a:xfrm>
            <a:off x="2763312" y="3904404"/>
            <a:ext cx="3973534" cy="1622185"/>
          </a:xfrm>
          <a:prstGeom prst="rect">
            <a:avLst/>
          </a:prstGeom>
        </p:spPr>
      </p:pic>
      <p:pic>
        <p:nvPicPr>
          <p:cNvPr id="6" name="Picture 5"/>
          <p:cNvPicPr>
            <a:picLocks noChangeAspect="1"/>
          </p:cNvPicPr>
          <p:nvPr/>
        </p:nvPicPr>
        <p:blipFill>
          <a:blip r:embed="rId3"/>
          <a:stretch>
            <a:fillRect/>
          </a:stretch>
        </p:blipFill>
        <p:spPr>
          <a:xfrm>
            <a:off x="279364" y="2461702"/>
            <a:ext cx="2664991" cy="1207004"/>
          </a:xfrm>
          <a:prstGeom prst="rect">
            <a:avLst/>
          </a:prstGeom>
        </p:spPr>
      </p:pic>
    </p:spTree>
    <p:extLst>
      <p:ext uri="{BB962C8B-B14F-4D97-AF65-F5344CB8AC3E}">
        <p14:creationId xmlns:p14="http://schemas.microsoft.com/office/powerpoint/2010/main" val="2347983801"/>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251520" y="332656"/>
            <a:ext cx="6912767" cy="2760617"/>
          </a:xfrm>
          <a:prstGeom prst="rect">
            <a:avLst/>
          </a:prstGeom>
        </p:spPr>
      </p:pic>
      <p:sp>
        <p:nvSpPr>
          <p:cNvPr id="5" name="Rectangle 1"/>
          <p:cNvSpPr>
            <a:spLocks noChangeArrowheads="1"/>
          </p:cNvSpPr>
          <p:nvPr/>
        </p:nvSpPr>
        <p:spPr bwMode="auto">
          <a:xfrm rot="10800000" flipV="1">
            <a:off x="120809" y="3309297"/>
            <a:ext cx="8654937" cy="22506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anchor="ctr" anchorCtr="0" compatLnSpc="1">
            <a:prstTxWarp prst="textNoShape">
              <a:avLst/>
            </a:prstTxWarp>
            <a:spAutoFit/>
          </a:bodyPr>
          <a:lstStyle/>
          <a:p>
            <a:pPr marL="214313" indent="-214313" defTabSz="685800" eaLnBrk="0" fontAlgn="base" hangingPunct="0">
              <a:lnSpc>
                <a:spcPct val="150000"/>
              </a:lnSpc>
              <a:spcBef>
                <a:spcPct val="0"/>
              </a:spcBef>
              <a:spcAft>
                <a:spcPct val="0"/>
              </a:spcAft>
              <a:buFont typeface="Wingdings" panose="05000000000000000000" pitchFamily="2" charset="2"/>
              <a:buChar char="Ø"/>
            </a:pPr>
            <a:r>
              <a:rPr lang="en-US" altLang="en-US" sz="1350" b="1" dirty="0">
                <a:latin typeface="Arial" panose="020B0604020202020204" pitchFamily="34" charset="0"/>
              </a:rPr>
              <a:t>Identify relationships</a:t>
            </a:r>
            <a:r>
              <a:rPr lang="en-US" altLang="en-US" sz="1350" dirty="0">
                <a:latin typeface="Arial" panose="020B0604020202020204" pitchFamily="34" charset="0"/>
              </a:rPr>
              <a:t> between variables: PCA uses the covariance matrix to determine the directions in which the data varies the most. These directions (called </a:t>
            </a:r>
            <a:r>
              <a:rPr lang="en-US" altLang="en-US" sz="1350" b="1" dirty="0">
                <a:latin typeface="Arial" panose="020B0604020202020204" pitchFamily="34" charset="0"/>
              </a:rPr>
              <a:t>principal components</a:t>
            </a:r>
            <a:r>
              <a:rPr lang="en-US" altLang="en-US" sz="1350" dirty="0">
                <a:latin typeface="Arial" panose="020B0604020202020204" pitchFamily="34" charset="0"/>
              </a:rPr>
              <a:t>) correspond to the eigenvectors of the covariance matrix.</a:t>
            </a:r>
          </a:p>
          <a:p>
            <a:pPr marL="214313" indent="-214313" defTabSz="685800" eaLnBrk="0" fontAlgn="base" hangingPunct="0">
              <a:lnSpc>
                <a:spcPct val="150000"/>
              </a:lnSpc>
              <a:spcBef>
                <a:spcPct val="0"/>
              </a:spcBef>
              <a:spcAft>
                <a:spcPct val="0"/>
              </a:spcAft>
              <a:buFont typeface="Wingdings" panose="05000000000000000000" pitchFamily="2" charset="2"/>
              <a:buChar char="Ø"/>
            </a:pPr>
            <a:r>
              <a:rPr lang="en-US" altLang="en-US" sz="1350" b="1" dirty="0">
                <a:latin typeface="Arial" panose="020B0604020202020204" pitchFamily="34" charset="0"/>
              </a:rPr>
              <a:t>Maximize variance</a:t>
            </a:r>
            <a:r>
              <a:rPr lang="en-US" altLang="en-US" sz="1350" dirty="0">
                <a:latin typeface="Arial" panose="020B0604020202020204" pitchFamily="34" charset="0"/>
              </a:rPr>
              <a:t>: The first principal component points in the direction of maximum variance. The eigenvalues of the covariance matrix indicate the amount of variance captured by each principal component.</a:t>
            </a:r>
          </a:p>
          <a:p>
            <a:pPr marL="214313" indent="-214313" defTabSz="685800" eaLnBrk="0" fontAlgn="base" hangingPunct="0">
              <a:lnSpc>
                <a:spcPct val="150000"/>
              </a:lnSpc>
              <a:spcBef>
                <a:spcPct val="0"/>
              </a:spcBef>
              <a:spcAft>
                <a:spcPct val="0"/>
              </a:spcAft>
              <a:buFont typeface="Wingdings" panose="05000000000000000000" pitchFamily="2" charset="2"/>
              <a:buChar char="Ø"/>
            </a:pPr>
            <a:r>
              <a:rPr lang="en-US" altLang="en-US" sz="1350" b="1" dirty="0">
                <a:latin typeface="Arial" panose="020B0604020202020204" pitchFamily="34" charset="0"/>
              </a:rPr>
              <a:t>Dimensionality reduction</a:t>
            </a:r>
            <a:r>
              <a:rPr lang="en-US" altLang="en-US" sz="1350" dirty="0">
                <a:latin typeface="Arial" panose="020B0604020202020204" pitchFamily="34" charset="0"/>
              </a:rPr>
              <a:t>: By focusing on principal components that capture the most variance, PCA reduces the dataset's dimensions while retaining as much of the original variance as possible. </a:t>
            </a:r>
          </a:p>
        </p:txBody>
      </p:sp>
    </p:spTree>
    <p:extLst>
      <p:ext uri="{BB962C8B-B14F-4D97-AF65-F5344CB8AC3E}">
        <p14:creationId xmlns:p14="http://schemas.microsoft.com/office/powerpoint/2010/main" val="3985407906"/>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1"/>
          <p:cNvSpPr>
            <a:spLocks noChangeArrowheads="1"/>
          </p:cNvSpPr>
          <p:nvPr/>
        </p:nvSpPr>
        <p:spPr bwMode="auto">
          <a:xfrm>
            <a:off x="0" y="260648"/>
            <a:ext cx="8388175" cy="3393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anchor="ctr" anchorCtr="0" compatLnSpc="1">
            <a:prstTxWarp prst="textNoShape">
              <a:avLst/>
            </a:prstTxWarp>
            <a:spAutoFit/>
          </a:bodyPr>
          <a:lstStyle/>
          <a:p>
            <a:pPr marL="214313" indent="-214313" defTabSz="685800" eaLnBrk="0" fontAlgn="base" hangingPunct="0">
              <a:lnSpc>
                <a:spcPct val="150000"/>
              </a:lnSpc>
              <a:spcBef>
                <a:spcPct val="0"/>
              </a:spcBef>
              <a:spcAft>
                <a:spcPct val="0"/>
              </a:spcAft>
              <a:buFont typeface="Wingdings" panose="05000000000000000000" pitchFamily="2" charset="2"/>
              <a:buChar char="Ø"/>
            </a:pPr>
            <a:r>
              <a:rPr lang="en-US" altLang="en-US" sz="1350" b="1" dirty="0">
                <a:latin typeface="Arial" panose="020B0604020202020204" pitchFamily="34" charset="0"/>
              </a:rPr>
              <a:t>Step3:Eigenvectors and Eigenvalues:</a:t>
            </a:r>
            <a:endParaRPr lang="en-US" altLang="en-US" sz="1350" dirty="0">
              <a:latin typeface="Arial" panose="020B0604020202020204" pitchFamily="34" charset="0"/>
            </a:endParaRPr>
          </a:p>
          <a:p>
            <a:pPr marL="557213" lvl="1" indent="-214313" defTabSz="685800" eaLnBrk="0" fontAlgn="base" hangingPunct="0">
              <a:lnSpc>
                <a:spcPct val="150000"/>
              </a:lnSpc>
              <a:spcBef>
                <a:spcPct val="0"/>
              </a:spcBef>
              <a:spcAft>
                <a:spcPct val="0"/>
              </a:spcAft>
              <a:buFont typeface="Wingdings" panose="05000000000000000000" pitchFamily="2" charset="2"/>
              <a:buChar char="Ø"/>
            </a:pPr>
            <a:r>
              <a:rPr lang="en-US" altLang="en-US" sz="1350" dirty="0">
                <a:latin typeface="Arial" panose="020B0604020202020204" pitchFamily="34" charset="0"/>
              </a:rPr>
              <a:t>The covariance matrix is decomposed into </a:t>
            </a:r>
            <a:r>
              <a:rPr lang="en-US" altLang="en-US" sz="1350" b="1" dirty="0">
                <a:latin typeface="Arial" panose="020B0604020202020204" pitchFamily="34" charset="0"/>
              </a:rPr>
              <a:t>eigenvectors</a:t>
            </a:r>
            <a:r>
              <a:rPr lang="en-US" altLang="en-US" sz="1350" dirty="0">
                <a:latin typeface="Arial" panose="020B0604020202020204" pitchFamily="34" charset="0"/>
              </a:rPr>
              <a:t> and </a:t>
            </a:r>
            <a:r>
              <a:rPr lang="en-US" altLang="en-US" sz="1350" b="1" dirty="0">
                <a:latin typeface="Arial" panose="020B0604020202020204" pitchFamily="34" charset="0"/>
              </a:rPr>
              <a:t>eigenvalues</a:t>
            </a:r>
            <a:r>
              <a:rPr lang="en-US" altLang="en-US" sz="1350" dirty="0">
                <a:latin typeface="Arial" panose="020B0604020202020204" pitchFamily="34" charset="0"/>
              </a:rPr>
              <a:t>.</a:t>
            </a:r>
          </a:p>
          <a:p>
            <a:pPr marL="557213" lvl="1" indent="-214313" defTabSz="685800" eaLnBrk="0" fontAlgn="base" hangingPunct="0">
              <a:lnSpc>
                <a:spcPct val="150000"/>
              </a:lnSpc>
              <a:spcBef>
                <a:spcPct val="0"/>
              </a:spcBef>
              <a:spcAft>
                <a:spcPct val="0"/>
              </a:spcAft>
              <a:buFont typeface="Wingdings" panose="05000000000000000000" pitchFamily="2" charset="2"/>
              <a:buChar char="Ø"/>
            </a:pPr>
            <a:r>
              <a:rPr lang="en-US" altLang="en-US" sz="1350" b="1" dirty="0">
                <a:latin typeface="Arial" panose="020B0604020202020204" pitchFamily="34" charset="0"/>
              </a:rPr>
              <a:t>Eigenvectors</a:t>
            </a:r>
            <a:r>
              <a:rPr lang="en-US" altLang="en-US" sz="1350" dirty="0">
                <a:latin typeface="Arial" panose="020B0604020202020204" pitchFamily="34" charset="0"/>
              </a:rPr>
              <a:t> represent the </a:t>
            </a:r>
            <a:r>
              <a:rPr lang="en-US" altLang="en-US" sz="1350" b="1" dirty="0">
                <a:latin typeface="Arial" panose="020B0604020202020204" pitchFamily="34" charset="0"/>
              </a:rPr>
              <a:t>principal components</a:t>
            </a:r>
            <a:r>
              <a:rPr lang="en-US" altLang="en-US" sz="1350" dirty="0">
                <a:latin typeface="Arial" panose="020B0604020202020204" pitchFamily="34" charset="0"/>
              </a:rPr>
              <a:t>—the directions of maximum variance.</a:t>
            </a:r>
          </a:p>
          <a:p>
            <a:pPr marL="557213" lvl="1" indent="-214313" defTabSz="685800" eaLnBrk="0" fontAlgn="base" hangingPunct="0">
              <a:lnSpc>
                <a:spcPct val="150000"/>
              </a:lnSpc>
              <a:spcBef>
                <a:spcPct val="0"/>
              </a:spcBef>
              <a:spcAft>
                <a:spcPct val="0"/>
              </a:spcAft>
              <a:buFont typeface="Wingdings" panose="05000000000000000000" pitchFamily="2" charset="2"/>
              <a:buChar char="Ø"/>
            </a:pPr>
            <a:r>
              <a:rPr lang="en-US" altLang="en-US" sz="1350" b="1" dirty="0">
                <a:latin typeface="Arial" panose="020B0604020202020204" pitchFamily="34" charset="0"/>
              </a:rPr>
              <a:t>Eigenvalues</a:t>
            </a:r>
            <a:r>
              <a:rPr lang="en-US" altLang="en-US" sz="1350" dirty="0">
                <a:latin typeface="Arial" panose="020B0604020202020204" pitchFamily="34" charset="0"/>
              </a:rPr>
              <a:t> represent the </a:t>
            </a:r>
            <a:r>
              <a:rPr lang="en-US" altLang="en-US" sz="1350" b="1" dirty="0">
                <a:latin typeface="Arial" panose="020B0604020202020204" pitchFamily="34" charset="0"/>
              </a:rPr>
              <a:t>magnitude</a:t>
            </a:r>
            <a:r>
              <a:rPr lang="en-US" altLang="en-US" sz="1350" dirty="0">
                <a:latin typeface="Arial" panose="020B0604020202020204" pitchFamily="34" charset="0"/>
              </a:rPr>
              <a:t> of variance captured by each principal component.</a:t>
            </a:r>
          </a:p>
          <a:p>
            <a:pPr marL="557213" lvl="1" indent="-214313" defTabSz="685800" eaLnBrk="0" fontAlgn="base" hangingPunct="0">
              <a:lnSpc>
                <a:spcPct val="150000"/>
              </a:lnSpc>
              <a:spcBef>
                <a:spcPct val="0"/>
              </a:spcBef>
              <a:spcAft>
                <a:spcPct val="0"/>
              </a:spcAft>
              <a:buFont typeface="Wingdings" panose="05000000000000000000" pitchFamily="2" charset="2"/>
              <a:buChar char="Ø"/>
            </a:pPr>
            <a:endParaRPr lang="en-US" altLang="en-US" sz="1350" dirty="0">
              <a:latin typeface="Arial" panose="020B0604020202020204" pitchFamily="34" charset="0"/>
            </a:endParaRPr>
          </a:p>
          <a:p>
            <a:pPr marL="214313" indent="-214313" defTabSz="685800" eaLnBrk="0" fontAlgn="base" hangingPunct="0">
              <a:lnSpc>
                <a:spcPct val="150000"/>
              </a:lnSpc>
              <a:spcBef>
                <a:spcPct val="0"/>
              </a:spcBef>
              <a:spcAft>
                <a:spcPct val="0"/>
              </a:spcAft>
              <a:buFont typeface="Wingdings" panose="05000000000000000000" pitchFamily="2" charset="2"/>
              <a:buChar char="Ø"/>
            </a:pPr>
            <a:r>
              <a:rPr lang="en-US" altLang="en-US" sz="1350" b="1" dirty="0">
                <a:latin typeface="Arial" panose="020B0604020202020204" pitchFamily="34" charset="0"/>
              </a:rPr>
              <a:t>Step 4:Principal Components:</a:t>
            </a:r>
            <a:endParaRPr lang="en-US" altLang="en-US" sz="1350" dirty="0">
              <a:latin typeface="Arial" panose="020B0604020202020204" pitchFamily="34" charset="0"/>
            </a:endParaRPr>
          </a:p>
          <a:p>
            <a:pPr marL="557213" lvl="1" indent="-214313" defTabSz="685800" eaLnBrk="0" fontAlgn="base" hangingPunct="0">
              <a:lnSpc>
                <a:spcPct val="150000"/>
              </a:lnSpc>
              <a:spcBef>
                <a:spcPct val="0"/>
              </a:spcBef>
              <a:spcAft>
                <a:spcPct val="0"/>
              </a:spcAft>
              <a:buFont typeface="Wingdings" panose="05000000000000000000" pitchFamily="2" charset="2"/>
              <a:buChar char="Ø"/>
            </a:pPr>
            <a:r>
              <a:rPr lang="en-US" altLang="en-US" sz="1350" dirty="0">
                <a:latin typeface="Arial" panose="020B0604020202020204" pitchFamily="34" charset="0"/>
              </a:rPr>
              <a:t>The principal components (PCs) are ranked by the eigenvalues, with the first principal component explaining the largest amount of variance in the data, followed by the second, and so on. </a:t>
            </a:r>
          </a:p>
          <a:p>
            <a:pPr marL="557213" lvl="1" indent="-214313" defTabSz="685800" eaLnBrk="0" fontAlgn="base" hangingPunct="0">
              <a:lnSpc>
                <a:spcPct val="150000"/>
              </a:lnSpc>
              <a:spcBef>
                <a:spcPct val="0"/>
              </a:spcBef>
              <a:spcAft>
                <a:spcPct val="0"/>
              </a:spcAft>
              <a:buFont typeface="Wingdings" panose="05000000000000000000" pitchFamily="2" charset="2"/>
              <a:buChar char="Ø"/>
            </a:pPr>
            <a:r>
              <a:rPr lang="en-US" altLang="en-US" sz="1350" dirty="0">
                <a:latin typeface="Arial" panose="020B0604020202020204" pitchFamily="34" charset="0"/>
              </a:rPr>
              <a:t>We typically retain only a few principal components, which capture most of the variability in the data, to reduce its dimensionality.</a:t>
            </a:r>
          </a:p>
          <a:p>
            <a:pPr defTabSz="685800" eaLnBrk="0" fontAlgn="base" hangingPunct="0">
              <a:spcBef>
                <a:spcPct val="0"/>
              </a:spcBef>
              <a:spcAft>
                <a:spcPct val="0"/>
              </a:spcAft>
            </a:pPr>
            <a:endParaRPr lang="en-US" altLang="en-US" sz="1350" dirty="0">
              <a:latin typeface="Arial" panose="020B0604020202020204" pitchFamily="34" charset="0"/>
            </a:endParaRPr>
          </a:p>
        </p:txBody>
      </p:sp>
      <p:sp>
        <p:nvSpPr>
          <p:cNvPr id="6" name="Rectangle 5"/>
          <p:cNvSpPr/>
          <p:nvPr/>
        </p:nvSpPr>
        <p:spPr>
          <a:xfrm>
            <a:off x="0" y="3933056"/>
            <a:ext cx="8101230" cy="1027204"/>
          </a:xfrm>
          <a:prstGeom prst="rect">
            <a:avLst/>
          </a:prstGeom>
        </p:spPr>
        <p:txBody>
          <a:bodyPr wrap="square">
            <a:spAutoFit/>
          </a:bodyPr>
          <a:lstStyle/>
          <a:p>
            <a:pPr marL="214313" indent="-214313">
              <a:lnSpc>
                <a:spcPct val="150000"/>
              </a:lnSpc>
              <a:buFont typeface="Wingdings" panose="05000000000000000000" pitchFamily="2" charset="2"/>
              <a:buChar char="Ø"/>
            </a:pPr>
            <a:r>
              <a:rPr lang="en-US" sz="1350" b="1" dirty="0"/>
              <a:t>Step 5: Transformation:</a:t>
            </a:r>
            <a:endParaRPr lang="en-US" sz="1350" dirty="0"/>
          </a:p>
          <a:p>
            <a:pPr marL="557213" lvl="1" indent="-214313" defTabSz="685800" eaLnBrk="0" fontAlgn="base" hangingPunct="0">
              <a:lnSpc>
                <a:spcPct val="150000"/>
              </a:lnSpc>
              <a:spcBef>
                <a:spcPct val="0"/>
              </a:spcBef>
              <a:spcAft>
                <a:spcPct val="0"/>
              </a:spcAft>
              <a:buFont typeface="Wingdings" panose="05000000000000000000" pitchFamily="2" charset="2"/>
              <a:buChar char="Ø"/>
            </a:pPr>
            <a:r>
              <a:rPr lang="en-US" sz="1350" dirty="0">
                <a:latin typeface="Arial" panose="020B0604020202020204" pitchFamily="34" charset="0"/>
              </a:rPr>
              <a:t>The data is then transformed onto the new principal component axes. This gives a new, lower-dimensional representation of the data, which retains most of the important information.</a:t>
            </a:r>
          </a:p>
        </p:txBody>
      </p:sp>
    </p:spTree>
    <p:extLst>
      <p:ext uri="{BB962C8B-B14F-4D97-AF65-F5344CB8AC3E}">
        <p14:creationId xmlns:p14="http://schemas.microsoft.com/office/powerpoint/2010/main" val="3274247819"/>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229" y="404664"/>
            <a:ext cx="6447501" cy="537210"/>
          </a:xfrm>
        </p:spPr>
        <p:txBody>
          <a:bodyPr>
            <a:normAutofit fontScale="90000"/>
          </a:bodyPr>
          <a:lstStyle/>
          <a:p>
            <a:r>
              <a:rPr lang="en-US" b="1" dirty="0"/>
              <a:t>Takeaways from the Output</a:t>
            </a:r>
          </a:p>
        </p:txBody>
      </p:sp>
      <p:sp>
        <p:nvSpPr>
          <p:cNvPr id="3" name="Content Placeholder 2"/>
          <p:cNvSpPr>
            <a:spLocks noGrp="1"/>
          </p:cNvSpPr>
          <p:nvPr>
            <p:ph idx="1"/>
          </p:nvPr>
        </p:nvSpPr>
        <p:spPr>
          <a:xfrm>
            <a:off x="196724" y="2673911"/>
            <a:ext cx="7183588" cy="2962656"/>
          </a:xfrm>
        </p:spPr>
        <p:txBody>
          <a:bodyPr>
            <a:normAutofit fontScale="47500" lnSpcReduction="20000"/>
          </a:bodyPr>
          <a:lstStyle/>
          <a:p>
            <a:r>
              <a:rPr lang="en-US" b="1" dirty="0"/>
              <a:t>How to Interpret These Results?</a:t>
            </a:r>
          </a:p>
          <a:p>
            <a:r>
              <a:rPr lang="en-US" b="1" dirty="0"/>
              <a:t>Standard Deviation (SD):</a:t>
            </a:r>
            <a:endParaRPr lang="en-US" dirty="0"/>
          </a:p>
          <a:p>
            <a:pPr lvl="1"/>
            <a:r>
              <a:rPr lang="en-US" dirty="0"/>
              <a:t>Higher SD means the component captures more variability.</a:t>
            </a:r>
          </a:p>
          <a:p>
            <a:pPr lvl="1"/>
            <a:r>
              <a:rPr lang="en-US" b="1" dirty="0"/>
              <a:t>PC1 has the highest SD (1.1077)</a:t>
            </a:r>
            <a:r>
              <a:rPr lang="en-US" dirty="0"/>
              <a:t>, meaning it explains the most variance.</a:t>
            </a:r>
          </a:p>
          <a:p>
            <a:r>
              <a:rPr lang="en-US" b="1" dirty="0"/>
              <a:t>Proportion of Variance:</a:t>
            </a:r>
            <a:endParaRPr lang="en-US" dirty="0"/>
          </a:p>
          <a:p>
            <a:pPr lvl="1"/>
            <a:r>
              <a:rPr lang="en-US" b="1" dirty="0"/>
              <a:t>PC1 explains 24.54% of the total variance.</a:t>
            </a:r>
            <a:endParaRPr lang="en-US" dirty="0"/>
          </a:p>
          <a:p>
            <a:pPr lvl="1"/>
            <a:r>
              <a:rPr lang="en-US" b="1" dirty="0"/>
              <a:t>PC2 explains 22.51%, and so on.</a:t>
            </a:r>
            <a:endParaRPr lang="en-US" dirty="0"/>
          </a:p>
          <a:p>
            <a:pPr lvl="1"/>
            <a:r>
              <a:rPr lang="en-US" dirty="0"/>
              <a:t>The variance decreases as we move to higher PCs.</a:t>
            </a:r>
          </a:p>
          <a:p>
            <a:r>
              <a:rPr lang="en-US" b="1" dirty="0"/>
              <a:t>Cumulative Variance:</a:t>
            </a:r>
            <a:endParaRPr lang="en-US" dirty="0"/>
          </a:p>
          <a:p>
            <a:pPr lvl="1"/>
            <a:r>
              <a:rPr lang="en-US" b="1" dirty="0"/>
              <a:t>PC1 + PC2 together explain 47.05% of variance.</a:t>
            </a:r>
            <a:endParaRPr lang="en-US" dirty="0"/>
          </a:p>
          <a:p>
            <a:pPr lvl="1"/>
            <a:r>
              <a:rPr lang="en-US" b="1" dirty="0"/>
              <a:t>PC1 to PC3 cover 67.83%.</a:t>
            </a:r>
            <a:endParaRPr lang="en-US" dirty="0"/>
          </a:p>
          <a:p>
            <a:pPr lvl="1"/>
            <a:r>
              <a:rPr lang="en-US" b="1" dirty="0"/>
              <a:t>PC1 to PC4 cover 85.75%</a:t>
            </a:r>
            <a:r>
              <a:rPr lang="en-US" dirty="0"/>
              <a:t>, meaning these four components retain most of the information.</a:t>
            </a:r>
          </a:p>
          <a:p>
            <a:pPr lvl="1"/>
            <a:r>
              <a:rPr lang="en-US" b="1" dirty="0"/>
              <a:t>PC5 completes it to 100%, but adds only 14.25%, meaning it may not be as important.</a:t>
            </a:r>
            <a:endParaRPr lang="en-US" dirty="0"/>
          </a:p>
          <a:p>
            <a:endParaRPr lang="en-US" dirty="0"/>
          </a:p>
        </p:txBody>
      </p:sp>
      <p:pic>
        <p:nvPicPr>
          <p:cNvPr id="4" name="Picture 3"/>
          <p:cNvPicPr>
            <a:picLocks noChangeAspect="1"/>
          </p:cNvPicPr>
          <p:nvPr/>
        </p:nvPicPr>
        <p:blipFill>
          <a:blip r:embed="rId2"/>
          <a:stretch>
            <a:fillRect/>
          </a:stretch>
        </p:blipFill>
        <p:spPr>
          <a:xfrm>
            <a:off x="250844" y="1196752"/>
            <a:ext cx="6680339" cy="1250331"/>
          </a:xfrm>
          <a:prstGeom prst="rect">
            <a:avLst/>
          </a:prstGeom>
        </p:spPr>
      </p:pic>
    </p:spTree>
    <p:extLst>
      <p:ext uri="{BB962C8B-B14F-4D97-AF65-F5344CB8AC3E}">
        <p14:creationId xmlns:p14="http://schemas.microsoft.com/office/powerpoint/2010/main" val="3594900005"/>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60648"/>
            <a:ext cx="7164288" cy="708688"/>
          </a:xfrm>
        </p:spPr>
        <p:txBody>
          <a:bodyPr>
            <a:normAutofit/>
          </a:bodyPr>
          <a:lstStyle/>
          <a:p>
            <a:r>
              <a:rPr lang="en-US" sz="3600" b="1" dirty="0"/>
              <a:t>Applications </a:t>
            </a:r>
            <a:r>
              <a:rPr lang="en-US" sz="3600" b="1" dirty="0" smtClean="0"/>
              <a:t>Data Science</a:t>
            </a:r>
            <a:endParaRPr lang="en-US" sz="3600" b="1" dirty="0"/>
          </a:p>
        </p:txBody>
      </p:sp>
      <p:sp>
        <p:nvSpPr>
          <p:cNvPr id="3" name="Content Placeholder 2"/>
          <p:cNvSpPr>
            <a:spLocks noGrp="1"/>
          </p:cNvSpPr>
          <p:nvPr>
            <p:ph idx="1"/>
          </p:nvPr>
        </p:nvSpPr>
        <p:spPr>
          <a:xfrm>
            <a:off x="343224" y="2923975"/>
            <a:ext cx="7226467" cy="2251591"/>
          </a:xfrm>
        </p:spPr>
        <p:txBody>
          <a:bodyPr>
            <a:normAutofit/>
          </a:bodyPr>
          <a:lstStyle/>
          <a:p>
            <a:pPr>
              <a:lnSpc>
                <a:spcPct val="150000"/>
              </a:lnSpc>
              <a:buFont typeface="Wingdings" panose="05000000000000000000" pitchFamily="2" charset="2"/>
              <a:buChar char="Ø"/>
            </a:pPr>
            <a:r>
              <a:rPr lang="en-US" b="1" dirty="0" smtClean="0"/>
              <a:t>Clustering</a:t>
            </a:r>
            <a:r>
              <a:rPr lang="en-US" b="1" dirty="0"/>
              <a:t>:</a:t>
            </a:r>
            <a:r>
              <a:rPr lang="en-US" dirty="0"/>
              <a:t> </a:t>
            </a:r>
            <a:r>
              <a:rPr lang="en-US" dirty="0" smtClean="0"/>
              <a:t>Grouping </a:t>
            </a:r>
            <a:r>
              <a:rPr lang="en-US" dirty="0"/>
              <a:t>similar data points together based on their vector representation.</a:t>
            </a:r>
          </a:p>
          <a:p>
            <a:pPr>
              <a:lnSpc>
                <a:spcPct val="150000"/>
              </a:lnSpc>
              <a:buFont typeface="Wingdings" panose="05000000000000000000" pitchFamily="2" charset="2"/>
              <a:buChar char="Ø"/>
            </a:pPr>
            <a:r>
              <a:rPr lang="en-US" b="1" dirty="0"/>
              <a:t>Recommendation Systems:</a:t>
            </a:r>
            <a:r>
              <a:rPr lang="en-US" dirty="0"/>
              <a:t> </a:t>
            </a:r>
            <a:r>
              <a:rPr lang="en-US" dirty="0" smtClean="0"/>
              <a:t>Comparing </a:t>
            </a:r>
            <a:r>
              <a:rPr lang="en-US" dirty="0"/>
              <a:t>user preferences or item features to suggest similar items</a:t>
            </a:r>
            <a:r>
              <a:rPr lang="en-US" dirty="0" smtClean="0"/>
              <a:t>.</a:t>
            </a:r>
            <a:r>
              <a:rPr lang="en-US" altLang="en-US" b="1" dirty="0">
                <a:solidFill>
                  <a:schemeClr val="tx1"/>
                </a:solidFill>
                <a:latin typeface="Arial" panose="020B0604020202020204" pitchFamily="34" charset="0"/>
              </a:rPr>
              <a:t> </a:t>
            </a:r>
            <a:r>
              <a:rPr lang="en-US" altLang="en-US" dirty="0" smtClean="0">
                <a:solidFill>
                  <a:schemeClr val="tx1"/>
                </a:solidFill>
                <a:latin typeface="Arial" panose="020B0604020202020204" pitchFamily="34" charset="0"/>
              </a:rPr>
              <a:t>Matrix </a:t>
            </a:r>
            <a:r>
              <a:rPr lang="en-US" altLang="en-US" dirty="0">
                <a:solidFill>
                  <a:schemeClr val="tx1"/>
                </a:solidFill>
                <a:latin typeface="Arial" panose="020B0604020202020204" pitchFamily="34" charset="0"/>
              </a:rPr>
              <a:t>factorization (SVD).</a:t>
            </a:r>
          </a:p>
          <a:p>
            <a:pPr>
              <a:lnSpc>
                <a:spcPct val="150000"/>
              </a:lnSpc>
              <a:buFont typeface="Wingdings" panose="05000000000000000000" pitchFamily="2" charset="2"/>
              <a:buChar char="Ø"/>
            </a:pPr>
            <a:endParaRPr lang="en-US" dirty="0"/>
          </a:p>
          <a:p>
            <a:endParaRPr lang="en-US" dirty="0"/>
          </a:p>
        </p:txBody>
      </p:sp>
      <p:sp>
        <p:nvSpPr>
          <p:cNvPr id="4" name="Rectangle 1"/>
          <p:cNvSpPr>
            <a:spLocks noChangeArrowheads="1"/>
          </p:cNvSpPr>
          <p:nvPr/>
        </p:nvSpPr>
        <p:spPr bwMode="auto">
          <a:xfrm rot="10800000" flipV="1">
            <a:off x="343224" y="1566374"/>
            <a:ext cx="7325119" cy="13388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800" b="1" i="0" u="none" strike="noStrike" cap="none" normalizeH="0" baseline="0" dirty="0" smtClean="0">
                <a:ln>
                  <a:noFill/>
                </a:ln>
                <a:solidFill>
                  <a:schemeClr val="tx1"/>
                </a:solidFill>
                <a:effectLst/>
                <a:latin typeface="Arial" panose="020B0604020202020204" pitchFamily="34" charset="0"/>
              </a:rPr>
              <a:t>Dimensionality Reduction</a:t>
            </a:r>
            <a:r>
              <a:rPr kumimoji="0" lang="en-US" altLang="en-US" sz="1800" b="0" i="0" u="none" strike="noStrike" cap="none" normalizeH="0" baseline="0" dirty="0" smtClean="0">
                <a:ln>
                  <a:noFill/>
                </a:ln>
                <a:solidFill>
                  <a:schemeClr val="tx1"/>
                </a:solidFill>
                <a:effectLst/>
                <a:latin typeface="Arial" panose="020B0604020202020204" pitchFamily="34" charset="0"/>
              </a:rPr>
              <a:t>: PCA (uses eigenvalues/eigenvectors).</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800" b="1" i="0" u="none" strike="noStrike" cap="none" normalizeH="0" baseline="0" dirty="0" smtClean="0">
                <a:ln>
                  <a:noFill/>
                </a:ln>
                <a:solidFill>
                  <a:schemeClr val="tx1"/>
                </a:solidFill>
                <a:effectLst/>
                <a:latin typeface="Arial" panose="020B0604020202020204" pitchFamily="34" charset="0"/>
              </a:rPr>
              <a:t>Neural Networks</a:t>
            </a:r>
            <a:r>
              <a:rPr kumimoji="0" lang="en-US" altLang="en-US" sz="1800" b="0" i="0" u="none" strike="noStrike" cap="none" normalizeH="0" baseline="0" dirty="0" smtClean="0">
                <a:ln>
                  <a:noFill/>
                </a:ln>
                <a:solidFill>
                  <a:schemeClr val="tx1"/>
                </a:solidFill>
                <a:effectLst/>
                <a:latin typeface="Arial" panose="020B0604020202020204" pitchFamily="34" charset="0"/>
              </a:rPr>
              <a:t>: Matrix operations in</a:t>
            </a:r>
            <a:r>
              <a:rPr kumimoji="0" lang="en-US" altLang="en-US" sz="1800" b="0" i="0" u="none" strike="noStrike" cap="none" normalizeH="0" dirty="0" smtClean="0">
                <a:ln>
                  <a:noFill/>
                </a:ln>
                <a:solidFill>
                  <a:schemeClr val="tx1"/>
                </a:solidFill>
                <a:effectLst/>
                <a:latin typeface="Arial" panose="020B0604020202020204" pitchFamily="34" charset="0"/>
              </a:rPr>
              <a:t> </a:t>
            </a:r>
            <a:r>
              <a:rPr kumimoji="0" lang="en-US" altLang="en-US" sz="1800" b="0" i="0" u="none" strike="noStrike" cap="none" normalizeH="0" baseline="0" dirty="0" smtClean="0">
                <a:ln>
                  <a:noFill/>
                </a:ln>
                <a:solidFill>
                  <a:schemeClr val="tx1"/>
                </a:solidFill>
                <a:effectLst/>
                <a:latin typeface="Arial" panose="020B0604020202020204" pitchFamily="34" charset="0"/>
              </a:rPr>
              <a:t>forward/backpropagation.</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800" b="1" i="0" u="none" strike="noStrike" cap="none" normalizeH="0" baseline="0" dirty="0" smtClean="0">
                <a:ln>
                  <a:noFill/>
                </a:ln>
                <a:solidFill>
                  <a:schemeClr val="tx1"/>
                </a:solidFill>
                <a:effectLst/>
                <a:latin typeface="Arial" panose="020B0604020202020204" pitchFamily="34" charset="0"/>
              </a:rPr>
              <a:t>NLP</a:t>
            </a:r>
            <a:r>
              <a:rPr kumimoji="0" lang="en-US" altLang="en-US" sz="1800" b="0" i="0" u="none" strike="noStrike" cap="none" normalizeH="0" baseline="0" dirty="0" smtClean="0">
                <a:ln>
                  <a:noFill/>
                </a:ln>
                <a:solidFill>
                  <a:schemeClr val="tx1"/>
                </a:solidFill>
                <a:effectLst/>
                <a:latin typeface="Arial" panose="020B0604020202020204" pitchFamily="34" charset="0"/>
              </a:rPr>
              <a:t>: Word </a:t>
            </a:r>
            <a:r>
              <a:rPr kumimoji="0" lang="en-US" altLang="en-US" sz="1800" b="0" i="0" u="none" strike="noStrike" cap="none" normalizeH="0" baseline="0" dirty="0" err="1" smtClean="0">
                <a:ln>
                  <a:noFill/>
                </a:ln>
                <a:solidFill>
                  <a:schemeClr val="tx1"/>
                </a:solidFill>
                <a:effectLst/>
                <a:latin typeface="Arial" panose="020B0604020202020204" pitchFamily="34" charset="0"/>
              </a:rPr>
              <a:t>embeddings</a:t>
            </a:r>
            <a:r>
              <a:rPr kumimoji="0" lang="en-US" altLang="en-US" sz="1800" b="0" i="0" u="none" strike="noStrike" cap="none" normalizeH="0" baseline="0" dirty="0" smtClean="0">
                <a:ln>
                  <a:noFill/>
                </a:ln>
                <a:solidFill>
                  <a:schemeClr val="tx1"/>
                </a:solidFill>
                <a:effectLst/>
                <a:latin typeface="Arial" panose="020B0604020202020204" pitchFamily="34" charset="0"/>
              </a:rPr>
              <a:t>, cosine similarity. </a:t>
            </a:r>
          </a:p>
        </p:txBody>
      </p:sp>
    </p:spTree>
    <p:extLst>
      <p:ext uri="{BB962C8B-B14F-4D97-AF65-F5344CB8AC3E}">
        <p14:creationId xmlns:p14="http://schemas.microsoft.com/office/powerpoint/2010/main" val="4154041042"/>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14508</TotalTime>
  <Words>2357</Words>
  <Application>Microsoft Office PowerPoint</Application>
  <PresentationFormat>On-screen Show (4:3)</PresentationFormat>
  <Paragraphs>230</Paragraphs>
  <Slides>81</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81</vt:i4>
      </vt:variant>
    </vt:vector>
  </HeadingPairs>
  <TitlesOfParts>
    <vt:vector size="88" baseType="lpstr">
      <vt:lpstr>Arial</vt:lpstr>
      <vt:lpstr>Calibri</vt:lpstr>
      <vt:lpstr>Segoe UI</vt:lpstr>
      <vt:lpstr>Trebuchet MS</vt:lpstr>
      <vt:lpstr>Wingdings</vt:lpstr>
      <vt:lpstr>Wingdings 3</vt:lpstr>
      <vt:lpstr>Facet</vt:lpstr>
      <vt:lpstr>Linear Algebra</vt:lpstr>
      <vt:lpstr>What is Linear Algebra?</vt:lpstr>
      <vt:lpstr>Why Linear Algebra for DA/DS</vt:lpstr>
      <vt:lpstr>Real-Life Analogy</vt:lpstr>
      <vt:lpstr>PowerPoint Presentation</vt:lpstr>
      <vt:lpstr>PowerPoint Presentation</vt:lpstr>
      <vt:lpstr>PowerPoint Presentation</vt:lpstr>
      <vt:lpstr>PowerPoint Presentation</vt:lpstr>
      <vt:lpstr>Why Are Vectors Important?</vt:lpstr>
      <vt:lpstr>Vector Math Helps in Decision-Making</vt:lpstr>
      <vt:lpstr>Core Concepts</vt:lpstr>
      <vt:lpstr>Scalars (0-Dimensional Tensors):</vt:lpstr>
      <vt:lpstr>Vector (1-Dimensional Tensors):   </vt:lpstr>
      <vt:lpstr>PowerPoint Presentation</vt:lpstr>
      <vt:lpstr>Matrix(2-Dimensional Tensors): </vt:lpstr>
      <vt:lpstr>PowerPoint Presentation</vt:lpstr>
      <vt:lpstr>Matrix Operations</vt:lpstr>
      <vt:lpstr>Scalar Addition</vt:lpstr>
      <vt:lpstr>Scalar Subtraction</vt:lpstr>
      <vt:lpstr>Mean Centering</vt:lpstr>
      <vt:lpstr>PowerPoint Presentation</vt:lpstr>
      <vt:lpstr>Matrix Addition</vt:lpstr>
      <vt:lpstr>Matrix Multiplication:</vt:lpstr>
      <vt:lpstr>Matrix Transpose</vt:lpstr>
      <vt:lpstr>Dot Product</vt:lpstr>
      <vt:lpstr>PowerPoint Presentation</vt:lpstr>
      <vt:lpstr>PowerPoint Presentation</vt:lpstr>
      <vt:lpstr>Norms(L1 and L2) </vt:lpstr>
      <vt:lpstr>L1 Norm: (Manhattan Norm or Taxicab Norm)</vt:lpstr>
      <vt:lpstr>PowerPoint Presentation</vt:lpstr>
      <vt:lpstr>L2 Norm (Euclidean Norm)</vt:lpstr>
      <vt:lpstr>PowerPoint Presentation</vt:lpstr>
      <vt:lpstr>PowerPoint Presentation</vt:lpstr>
      <vt:lpstr>PowerPoint Presentation</vt:lpstr>
      <vt:lpstr>Angle between two vectors:</vt:lpstr>
      <vt:lpstr>PowerPoint Presentation</vt:lpstr>
      <vt:lpstr>PowerPoint Presentation</vt:lpstr>
      <vt:lpstr>PowerPoint Presentation</vt:lpstr>
      <vt:lpstr>PowerPoint Presentation</vt:lpstr>
      <vt:lpstr>PowerPoint Presentation</vt:lpstr>
      <vt:lpstr>Cosine Similarity</vt:lpstr>
      <vt:lpstr>Example:</vt:lpstr>
      <vt:lpstr>PowerPoint Presentation</vt:lpstr>
      <vt:lpstr>PowerPoint Presentation</vt:lpstr>
      <vt:lpstr>PowerPoint Presentation</vt:lpstr>
      <vt:lpstr>PowerPoint Presentation</vt:lpstr>
      <vt:lpstr>Projection of a Vector</vt:lpstr>
      <vt:lpstr>Steps to Compute the Projection</vt:lpstr>
      <vt:lpstr>PowerPoint Presentation</vt:lpstr>
      <vt:lpstr>PowerPoint Presentation</vt:lpstr>
      <vt:lpstr>What is Normalization?</vt:lpstr>
      <vt:lpstr>Normalization Techniques Using Distance</vt:lpstr>
      <vt:lpstr>PowerPoint Presentation</vt:lpstr>
      <vt:lpstr>Eigenvalues and Eigenvectors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Example in HR Analytics: Employee Performance Evaluation</vt:lpstr>
      <vt:lpstr>Step 1: Represent HR Data as a Matrix</vt:lpstr>
      <vt:lpstr>PowerPoint Presentation</vt:lpstr>
      <vt:lpstr>Step 2: Why We MUST Scale (Very Important)</vt:lpstr>
      <vt:lpstr>Step 3: Covariance Matrix (THIS is the square matrix)</vt:lpstr>
      <vt:lpstr>Step 4: Eigenvectors &amp; Eigenvalues (CORE CONCEPT)</vt:lpstr>
      <vt:lpstr>PowerPoint Presentation</vt:lpstr>
      <vt:lpstr>Step 5: What Eigenvectors Mean (HR Interpretation)</vt:lpstr>
      <vt:lpstr>Step 6: Eigenvalues = Importance</vt:lpstr>
      <vt:lpstr>Step7️: Sort Components by Importance</vt:lpstr>
      <vt:lpstr>Step 8: Projection</vt:lpstr>
      <vt:lpstr>Step 9:Business Meaning (Very Important)</vt:lpstr>
      <vt:lpstr>Steps of PCA:</vt:lpstr>
      <vt:lpstr>PowerPoint Presentation</vt:lpstr>
      <vt:lpstr>PowerPoint Presentation</vt:lpstr>
      <vt:lpstr>PowerPoint Presentation</vt:lpstr>
      <vt:lpstr>Takeaways from the Output</vt:lpstr>
      <vt:lpstr>Applications Data Science</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Steps for General Machine Learning Modeling</dc:title>
  <dc:creator>PANKAJ</dc:creator>
  <cp:lastModifiedBy>Microsoft account</cp:lastModifiedBy>
  <cp:revision>143</cp:revision>
  <dcterms:created xsi:type="dcterms:W3CDTF">2024-05-24T04:26:25Z</dcterms:created>
  <dcterms:modified xsi:type="dcterms:W3CDTF">2025-12-31T10:08:20Z</dcterms:modified>
</cp:coreProperties>
</file>